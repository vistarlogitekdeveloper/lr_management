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2CD13-F45D-1CE9-7FB8-AF678E606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BB9D0-97A9-7FF0-360D-E5A922B95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21947-A7F9-3783-8E80-AC2F0D00C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EEFCD-8084-46B3-B0E5-7536CFB9EA33}" type="datetimeFigureOut">
              <a:rPr lang="en-US" smtClean="0"/>
              <a:t>13/07/2026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371C1-2F5C-B6A7-AA77-96860A998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0F089-F5EA-9AFF-E1BE-290123B66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3DCF3-BB11-4303-9CAD-57A00888C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5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F3060-A249-597C-C88E-AFEB4531C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AD4FE-1270-790B-7152-9F4A22AE7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8B9BF-83A3-640A-E60B-0A6F09C86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EEFCD-8084-46B3-B0E5-7536CFB9EA33}" type="datetimeFigureOut">
              <a:rPr lang="en-US" smtClean="0"/>
              <a:t>13/07/2026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BBB3B-6223-C777-CE05-EC11683F3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928B1-93DA-AA7A-5505-3324FED3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3DCF3-BB11-4303-9CAD-57A00888C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32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0D7F6-8301-812D-3E85-256B045A9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ECF5-F1CC-C334-E9BE-64800B238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32B98-D47C-C1B0-ABEE-C2345098B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EEFCD-8084-46B3-B0E5-7536CFB9EA33}" type="datetimeFigureOut">
              <a:rPr lang="en-US" smtClean="0"/>
              <a:t>13/07/2026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CF2C1-EA97-4798-FF1A-0B45CD485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895CA-A7E0-0591-7E7D-764D0120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3DCF3-BB11-4303-9CAD-57A00888C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97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C001A-646E-F572-C715-32905742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58803-6D93-0F97-5EE5-9AED6CCF0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9DF4D-B0BB-FFBD-E069-7D626089B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80798-9FB3-179D-5230-1601F5739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EEFCD-8084-46B3-B0E5-7536CFB9EA33}" type="datetimeFigureOut">
              <a:rPr lang="en-US" smtClean="0"/>
              <a:t>13/07/2026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EAEB2-40A4-5EFB-89D3-A260DD3D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B6BCD-AC7C-E8DD-7540-085D04A4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3DCF3-BB11-4303-9CAD-57A00888C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54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29142-7365-7DDD-966C-9C473B1F9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D5B57-EFBD-3B01-F90C-5AA9FFD23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EE868-C14D-A9C4-A958-AD3E68DB4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791A08-A504-FB0E-0228-BBB432C0C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070712-FEBD-B981-70B1-D478565F9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A0E8D8-B2CB-F319-A491-E03991281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EEFCD-8084-46B3-B0E5-7536CFB9EA33}" type="datetimeFigureOut">
              <a:rPr lang="en-US" smtClean="0"/>
              <a:t>13/07/2026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3A1196-B39D-D6C0-701B-3A7340C15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AA22BB-80A8-9B48-5A99-2D3E0A34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3DCF3-BB11-4303-9CAD-57A00888C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1428F-8C3A-4107-D932-5020FCEF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BABC7A-259B-B55B-5B5C-68F85F9B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EEFCD-8084-46B3-B0E5-7536CFB9EA33}" type="datetimeFigureOut">
              <a:rPr lang="en-US" smtClean="0"/>
              <a:t>13/07/2026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A7A1F-EB04-8736-ABBD-8D4229C4E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CF196-7628-C918-3EF3-CD09AD8C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3DCF3-BB11-4303-9CAD-57A00888C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0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6368A9-1F91-595D-6F3F-5CDD9FDB4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EEFCD-8084-46B3-B0E5-7536CFB9EA33}" type="datetimeFigureOut">
              <a:rPr lang="en-US" smtClean="0"/>
              <a:t>13/07/2026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0B290D-8636-456B-C94D-94B1011F9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35A67-C690-3648-FA0C-423812D7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3DCF3-BB11-4303-9CAD-57A00888C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19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1C564-7F81-378E-3D31-ADA37B36A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AD61A-93C1-A120-DB69-DF62ED4C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A32F4-2D80-32CF-0CB4-E5743AEDD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C7260-E937-E1F8-444B-4F633C84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EEFCD-8084-46B3-B0E5-7536CFB9EA33}" type="datetimeFigureOut">
              <a:rPr lang="en-US" smtClean="0"/>
              <a:t>13/07/2026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030DA-5915-854E-F8A0-ADEB139E8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8EFDC-82F4-6C58-40D9-5EFAE90EA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3DCF3-BB11-4303-9CAD-57A00888C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50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27E11-19B7-7DCB-2A28-136E9EA0D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E3626D-C676-4CC4-F5F0-33094EE22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81974-85AF-266D-1F68-B1AE6B226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410CC-D11F-1A34-3AD1-35585CC76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EEFCD-8084-46B3-B0E5-7536CFB9EA33}" type="datetimeFigureOut">
              <a:rPr lang="en-US" smtClean="0"/>
              <a:t>13/07/2026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4D848-22DA-862F-4BB3-A599B5004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E8F76-B6D1-A2B5-519D-C8A3BB82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3DCF3-BB11-4303-9CAD-57A00888C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21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282A1-6C93-341B-83AC-7FABA6A1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374F2-985F-570E-B645-DE615DA9B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5749C-FEC7-0901-52EA-BE3E66D21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EEFCD-8084-46B3-B0E5-7536CFB9EA33}" type="datetimeFigureOut">
              <a:rPr lang="en-US" smtClean="0"/>
              <a:t>13/07/2026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91971-B3A1-32B5-4CA0-B9B9A9596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C733-7439-F1E0-2853-5B0E24AE6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3DCF3-BB11-4303-9CAD-57A00888C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215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CA45D0-D156-8030-96C6-E58B870C88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B39A5-ED90-C8FA-CE16-C427AF732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603FD-A155-3AB8-4C5F-23D7D6148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EEFCD-8084-46B3-B0E5-7536CFB9EA33}" type="datetimeFigureOut">
              <a:rPr lang="en-US" smtClean="0"/>
              <a:t>13/07/2026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DCDC4-C04F-F3B2-DE61-32301603B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CC930-8843-2328-2AFD-268A5BB4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3DCF3-BB11-4303-9CAD-57A00888C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49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C5821C-74C5-E220-3EC7-9B034FE3D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B71C2-3E42-80CE-4A68-5C88B6BDF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128DF-32DF-B66D-D9EC-62CC3F6BC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5EEFCD-8084-46B3-B0E5-7536CFB9EA33}" type="datetimeFigureOut">
              <a:rPr lang="en-US" smtClean="0"/>
              <a:t>13/07/2026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107DD-2F7B-5A97-25C2-A2739451B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C838E-73C4-6BCC-17FA-96031BED7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93DCF3-BB11-4303-9CAD-57A00888C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66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E28638-DA0D-2CE9-3875-F4BA81C165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CA4992-F2A9-9D6F-6509-1857CC3DA49E}"/>
              </a:ext>
            </a:extLst>
          </p:cNvPr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rgbClr val="4A1D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1123FB-BE50-848A-8CDB-C7984EDCC96A}"/>
              </a:ext>
            </a:extLst>
          </p:cNvPr>
          <p:cNvSpPr/>
          <p:nvPr/>
        </p:nvSpPr>
        <p:spPr>
          <a:xfrm>
            <a:off x="558800" y="838200"/>
            <a:ext cx="1219200" cy="1219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3B32A-D8E3-6E89-0A3C-7B2DB28015E8}"/>
              </a:ext>
            </a:extLst>
          </p:cNvPr>
          <p:cNvSpPr txBox="1"/>
          <p:nvPr/>
        </p:nvSpPr>
        <p:spPr>
          <a:xfrm>
            <a:off x="558800" y="1041400"/>
            <a:ext cx="1219200" cy="73353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4600">
                <a:solidFill>
                  <a:srgbClr val="6B2B6F"/>
                </a:solidFill>
                <a:latin typeface="Segoe UI" panose="020B0502040204020203" pitchFamily="34" charset="0"/>
              </a:rPr>
              <a:t>🚚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A307C5-B7BD-34AD-0572-8F0D9C38106D}"/>
              </a:ext>
            </a:extLst>
          </p:cNvPr>
          <p:cNvSpPr txBox="1"/>
          <p:nvPr/>
        </p:nvSpPr>
        <p:spPr>
          <a:xfrm>
            <a:off x="558800" y="2641600"/>
            <a:ext cx="11074400" cy="73353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4600" b="1">
                <a:solidFill>
                  <a:srgbClr val="FFFFFF"/>
                </a:solidFill>
                <a:latin typeface="Segoe UI" panose="020B0502040204020203" pitchFamily="34" charset="0"/>
              </a:rPr>
              <a:t>Vistar LR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F543FD-A0E6-54B1-65EE-087B1DE5EAF9}"/>
              </a:ext>
            </a:extLst>
          </p:cNvPr>
          <p:cNvSpPr txBox="1"/>
          <p:nvPr/>
        </p:nvSpPr>
        <p:spPr>
          <a:xfrm>
            <a:off x="558800" y="3632200"/>
            <a:ext cx="110744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>
                <a:solidFill>
                  <a:srgbClr val="ECDDEF"/>
                </a:solidFill>
                <a:latin typeface="Segoe UI" panose="020B0502040204020203" pitchFamily="34" charset="0"/>
              </a:rPr>
              <a:t>User Guide   ·   Digital Lorry Receipts, Freight &amp; Payments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E8004E-1BEA-35F0-A4DD-6631EC1FD322}"/>
              </a:ext>
            </a:extLst>
          </p:cNvPr>
          <p:cNvSpPr txBox="1"/>
          <p:nvPr/>
        </p:nvSpPr>
        <p:spPr>
          <a:xfrm>
            <a:off x="558800" y="4445000"/>
            <a:ext cx="110744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400">
                <a:solidFill>
                  <a:srgbClr val="DCCDE0"/>
                </a:solidFill>
                <a:latin typeface="Segoe UI" panose="020B0502040204020203" pitchFamily="34" charset="0"/>
              </a:rPr>
              <a:t>A simple, paperless way to create, track and get paid for every consignment.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935B0B-C0CA-86D0-FE89-AC71456E9490}"/>
              </a:ext>
            </a:extLst>
          </p:cNvPr>
          <p:cNvSpPr txBox="1"/>
          <p:nvPr/>
        </p:nvSpPr>
        <p:spPr>
          <a:xfrm>
            <a:off x="558800" y="6248400"/>
            <a:ext cx="110744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Prepared for our valued client      ·      Version 1.0</a:t>
            </a:r>
          </a:p>
        </p:txBody>
      </p:sp>
    </p:spTree>
    <p:extLst>
      <p:ext uri="{BB962C8B-B14F-4D97-AF65-F5344CB8AC3E}">
        <p14:creationId xmlns:p14="http://schemas.microsoft.com/office/powerpoint/2010/main" val="65637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6B2896-8842-3664-7D03-5A4F1CA14FEF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17E35-455A-5151-096F-35CE838F378C}"/>
              </a:ext>
            </a:extLst>
          </p:cNvPr>
          <p:cNvSpPr txBox="1"/>
          <p:nvPr/>
        </p:nvSpPr>
        <p:spPr>
          <a:xfrm>
            <a:off x="558800" y="190500"/>
            <a:ext cx="9144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Why this app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11A539-849A-2C01-2728-A68B64E828EA}"/>
              </a:ext>
            </a:extLst>
          </p:cNvPr>
          <p:cNvSpPr txBox="1"/>
          <p:nvPr/>
        </p:nvSpPr>
        <p:spPr>
          <a:xfrm>
            <a:off x="558800" y="609600"/>
            <a:ext cx="914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E8D8EB"/>
                </a:solidFill>
                <a:latin typeface="Segoe UI" panose="020B0502040204020203" pitchFamily="34" charset="0"/>
              </a:rPr>
              <a:t>From paper registers to one connected digital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37082-E77F-6885-1B1C-D711B9A4236A}"/>
              </a:ext>
            </a:extLst>
          </p:cNvPr>
          <p:cNvSpPr txBox="1"/>
          <p:nvPr/>
        </p:nvSpPr>
        <p:spPr>
          <a:xfrm>
            <a:off x="558800" y="6527800"/>
            <a:ext cx="5842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fr-FR" sz="900">
                <a:solidFill>
                  <a:srgbClr val="606074"/>
                </a:solidFill>
                <a:latin typeface="Segoe UI" panose="020B0502040204020203" pitchFamily="34" charset="0"/>
              </a:rPr>
              <a:t>Vistar LR Management   ·   User Guide</a:t>
            </a:r>
            <a:endParaRPr lang="en-US" sz="900">
              <a:solidFill>
                <a:srgbClr val="60607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E2920F-41E7-EC9F-8E72-314EFF25470B}"/>
              </a:ext>
            </a:extLst>
          </p:cNvPr>
          <p:cNvSpPr txBox="1"/>
          <p:nvPr/>
        </p:nvSpPr>
        <p:spPr>
          <a:xfrm>
            <a:off x="10414000" y="65278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en-US" sz="900">
                <a:solidFill>
                  <a:srgbClr val="606074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7D57EC-77C9-23DA-09F0-AF4A5168FABF}"/>
              </a:ext>
            </a:extLst>
          </p:cNvPr>
          <p:cNvSpPr/>
          <p:nvPr/>
        </p:nvSpPr>
        <p:spPr>
          <a:xfrm>
            <a:off x="508000" y="1371600"/>
            <a:ext cx="5334000" cy="4572000"/>
          </a:xfrm>
          <a:prstGeom prst="roundRect">
            <a:avLst>
              <a:gd name="adj" fmla="val 7000"/>
            </a:avLst>
          </a:prstGeom>
          <a:solidFill>
            <a:srgbClr val="FFF6E7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F25C27-4F0C-F694-74DA-982918D5ACF8}"/>
              </a:ext>
            </a:extLst>
          </p:cNvPr>
          <p:cNvSpPr txBox="1"/>
          <p:nvPr/>
        </p:nvSpPr>
        <p:spPr>
          <a:xfrm>
            <a:off x="812800" y="1625600"/>
            <a:ext cx="47244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500" b="1">
                <a:solidFill>
                  <a:srgbClr val="96600C"/>
                </a:solidFill>
                <a:latin typeface="Segoe UI" panose="020B0502040204020203" pitchFamily="34" charset="0"/>
              </a:rPr>
              <a:t>The old way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7995AB-DC43-541D-AE14-ACE92740D925}"/>
              </a:ext>
            </a:extLst>
          </p:cNvPr>
          <p:cNvSpPr txBox="1"/>
          <p:nvPr/>
        </p:nvSpPr>
        <p:spPr>
          <a:xfrm>
            <a:off x="812800" y="2133600"/>
            <a:ext cx="4724400" cy="166629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Hand-written LR slips and registers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Slips get lost, torn or mis-filed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Freight and advances tracked on paper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No live view of pending payments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Reports take hours to compile by hand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Hard to know each trip's real margin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86C81E-F6AE-FE2A-2D2D-71717700E62F}"/>
              </a:ext>
            </a:extLst>
          </p:cNvPr>
          <p:cNvSpPr/>
          <p:nvPr/>
        </p:nvSpPr>
        <p:spPr>
          <a:xfrm>
            <a:off x="6350000" y="1371600"/>
            <a:ext cx="5334000" cy="4572000"/>
          </a:xfrm>
          <a:prstGeom prst="roundRect">
            <a:avLst>
              <a:gd name="adj" fmla="val 7000"/>
            </a:avLst>
          </a:prstGeom>
          <a:solidFill>
            <a:srgbClr val="E9F6EE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BD0971-EE13-521C-289C-04F97401F305}"/>
              </a:ext>
            </a:extLst>
          </p:cNvPr>
          <p:cNvSpPr txBox="1"/>
          <p:nvPr/>
        </p:nvSpPr>
        <p:spPr>
          <a:xfrm>
            <a:off x="6654800" y="1625600"/>
            <a:ext cx="47244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500" b="1">
                <a:solidFill>
                  <a:srgbClr val="1A844A"/>
                </a:solidFill>
                <a:latin typeface="Segoe UI" panose="020B0502040204020203" pitchFamily="34" charset="0"/>
              </a:rPr>
              <a:t>With Vistar LR Management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07A2CC-FBF4-87DE-8205-CC5824FA0283}"/>
              </a:ext>
            </a:extLst>
          </p:cNvPr>
          <p:cNvSpPr txBox="1"/>
          <p:nvPr/>
        </p:nvSpPr>
        <p:spPr>
          <a:xfrm>
            <a:off x="6654800" y="2133600"/>
            <a:ext cx="4724400" cy="166629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Create an LR in under a minute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LR numbers generated automatically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Every freight and charge captured cleanly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Payments tracked right to completion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Search, filter and export in seconds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Margins and incentives always visible</a:t>
            </a:r>
          </a:p>
        </p:txBody>
      </p:sp>
    </p:spTree>
    <p:extLst>
      <p:ext uri="{BB962C8B-B14F-4D97-AF65-F5344CB8AC3E}">
        <p14:creationId xmlns:p14="http://schemas.microsoft.com/office/powerpoint/2010/main" val="3155910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E3B024-70CF-D86B-894E-6E2C8F346F65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D2F2A-DCE4-CF6A-F127-9377DD1932DD}"/>
              </a:ext>
            </a:extLst>
          </p:cNvPr>
          <p:cNvSpPr txBox="1"/>
          <p:nvPr/>
        </p:nvSpPr>
        <p:spPr>
          <a:xfrm>
            <a:off x="558800" y="190500"/>
            <a:ext cx="9144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What the app does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0CB56-EC10-2E7A-2979-448465A2EC80}"/>
              </a:ext>
            </a:extLst>
          </p:cNvPr>
          <p:cNvSpPr txBox="1"/>
          <p:nvPr/>
        </p:nvSpPr>
        <p:spPr>
          <a:xfrm>
            <a:off x="558800" y="609600"/>
            <a:ext cx="914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E8D8EB"/>
                </a:solidFill>
                <a:latin typeface="Segoe UI" panose="020B0502040204020203" pitchFamily="34" charset="0"/>
              </a:rPr>
              <a:t>Everything you need for lorry receipts, in one place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054D73-F518-A117-C50B-5701FF0B4216}"/>
              </a:ext>
            </a:extLst>
          </p:cNvPr>
          <p:cNvSpPr txBox="1"/>
          <p:nvPr/>
        </p:nvSpPr>
        <p:spPr>
          <a:xfrm>
            <a:off x="558800" y="6527800"/>
            <a:ext cx="5842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fr-FR" sz="900">
                <a:solidFill>
                  <a:srgbClr val="606074"/>
                </a:solidFill>
                <a:latin typeface="Segoe UI" panose="020B0502040204020203" pitchFamily="34" charset="0"/>
              </a:rPr>
              <a:t>Vistar LR Management   ·   User Guide</a:t>
            </a:r>
            <a:endParaRPr lang="en-US" sz="900">
              <a:solidFill>
                <a:srgbClr val="60607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C3B3A6-08CE-3E45-45E5-61D96A8E873C}"/>
              </a:ext>
            </a:extLst>
          </p:cNvPr>
          <p:cNvSpPr txBox="1"/>
          <p:nvPr/>
        </p:nvSpPr>
        <p:spPr>
          <a:xfrm>
            <a:off x="10414000" y="65278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en-US" sz="900">
                <a:solidFill>
                  <a:srgbClr val="606074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BF0FC2-C709-136F-3D1C-9944E8391CFF}"/>
              </a:ext>
            </a:extLst>
          </p:cNvPr>
          <p:cNvSpPr/>
          <p:nvPr/>
        </p:nvSpPr>
        <p:spPr>
          <a:xfrm>
            <a:off x="508000" y="12700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F92FB0-CEDC-F1AF-A75E-120317426108}"/>
              </a:ext>
            </a:extLst>
          </p:cNvPr>
          <p:cNvSpPr/>
          <p:nvPr/>
        </p:nvSpPr>
        <p:spPr>
          <a:xfrm>
            <a:off x="711200" y="1473200"/>
            <a:ext cx="558800" cy="558800"/>
          </a:xfrm>
          <a:prstGeom prst="roundRect">
            <a:avLst>
              <a:gd name="adj" fmla="val 7000"/>
            </a:avLst>
          </a:prstGeom>
          <a:solidFill>
            <a:srgbClr val="F0E7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063480-DD13-46B9-5C8E-E56D23B3C21F}"/>
              </a:ext>
            </a:extLst>
          </p:cNvPr>
          <p:cNvSpPr txBox="1"/>
          <p:nvPr/>
        </p:nvSpPr>
        <p:spPr>
          <a:xfrm>
            <a:off x="711200" y="1549400"/>
            <a:ext cx="5588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2200">
                <a:solidFill>
                  <a:srgbClr val="6B2B6F"/>
                </a:solidFill>
                <a:latin typeface="Segoe UI" panose="020B0502040204020203" pitchFamily="34" charset="0"/>
              </a:rPr>
              <a:t>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F44CF1-B1E6-DE2E-40C7-42A923D46873}"/>
              </a:ext>
            </a:extLst>
          </p:cNvPr>
          <p:cNvSpPr txBox="1"/>
          <p:nvPr/>
        </p:nvSpPr>
        <p:spPr>
          <a:xfrm>
            <a:off x="1422400" y="1524000"/>
            <a:ext cx="24892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Create &amp; Manage LRs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29BFC-7F37-DE11-D168-A1ADA9BCBD38}"/>
              </a:ext>
            </a:extLst>
          </p:cNvPr>
          <p:cNvSpPr txBox="1"/>
          <p:nvPr/>
        </p:nvSpPr>
        <p:spPr>
          <a:xfrm>
            <a:off x="711200" y="2159000"/>
            <a:ext cx="31496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Capture parties, vehicle, route, goods and freight for every consignment.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2C8C43B-0D00-448B-67CE-76A0AC33A8BD}"/>
              </a:ext>
            </a:extLst>
          </p:cNvPr>
          <p:cNvSpPr/>
          <p:nvPr/>
        </p:nvSpPr>
        <p:spPr>
          <a:xfrm>
            <a:off x="4318000" y="12700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90AD2F-8C4B-1194-EAB2-2F01A880E380}"/>
              </a:ext>
            </a:extLst>
          </p:cNvPr>
          <p:cNvSpPr/>
          <p:nvPr/>
        </p:nvSpPr>
        <p:spPr>
          <a:xfrm>
            <a:off x="4521200" y="1473200"/>
            <a:ext cx="558800" cy="558800"/>
          </a:xfrm>
          <a:prstGeom prst="roundRect">
            <a:avLst>
              <a:gd name="adj" fmla="val 7000"/>
            </a:avLst>
          </a:prstGeom>
          <a:solidFill>
            <a:srgbClr val="E9F0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4107BE-5B1B-23C1-C2B6-0FD86BE79214}"/>
              </a:ext>
            </a:extLst>
          </p:cNvPr>
          <p:cNvSpPr txBox="1"/>
          <p:nvPr/>
        </p:nvSpPr>
        <p:spPr>
          <a:xfrm>
            <a:off x="4521200" y="1549400"/>
            <a:ext cx="5588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2200">
                <a:solidFill>
                  <a:srgbClr val="24569E"/>
                </a:solidFill>
                <a:latin typeface="Segoe UI" panose="020B0502040204020203" pitchFamily="34" charset="0"/>
              </a:rPr>
              <a:t>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633586-4529-F3C2-9FB5-04C96B8C441B}"/>
              </a:ext>
            </a:extLst>
          </p:cNvPr>
          <p:cNvSpPr txBox="1"/>
          <p:nvPr/>
        </p:nvSpPr>
        <p:spPr>
          <a:xfrm>
            <a:off x="5232400" y="1524000"/>
            <a:ext cx="24892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Print Consignment Notes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4221E6-F96D-44EE-6A93-1624B8B1F3B2}"/>
              </a:ext>
            </a:extLst>
          </p:cNvPr>
          <p:cNvSpPr txBox="1"/>
          <p:nvPr/>
        </p:nvSpPr>
        <p:spPr>
          <a:xfrm>
            <a:off x="4521200" y="2159000"/>
            <a:ext cx="31496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Generate a clean, ready-to-print LR copy the moment it is saved.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FA659CA-FE00-61D2-492F-F892358802D2}"/>
              </a:ext>
            </a:extLst>
          </p:cNvPr>
          <p:cNvSpPr/>
          <p:nvPr/>
        </p:nvSpPr>
        <p:spPr>
          <a:xfrm>
            <a:off x="8128000" y="12700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3AD415-419E-DB21-B73C-D9DA1B67CD49}"/>
              </a:ext>
            </a:extLst>
          </p:cNvPr>
          <p:cNvSpPr/>
          <p:nvPr/>
        </p:nvSpPr>
        <p:spPr>
          <a:xfrm>
            <a:off x="8331200" y="1473200"/>
            <a:ext cx="558800" cy="558800"/>
          </a:xfrm>
          <a:prstGeom prst="roundRect">
            <a:avLst>
              <a:gd name="adj" fmla="val 7000"/>
            </a:avLst>
          </a:prstGeom>
          <a:solidFill>
            <a:srgbClr val="E9F6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90C095-B899-ABB4-FB5E-7199FECB07F9}"/>
              </a:ext>
            </a:extLst>
          </p:cNvPr>
          <p:cNvSpPr txBox="1"/>
          <p:nvPr/>
        </p:nvSpPr>
        <p:spPr>
          <a:xfrm>
            <a:off x="8331200" y="1549400"/>
            <a:ext cx="5588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2200">
                <a:solidFill>
                  <a:srgbClr val="1A844A"/>
                </a:solidFill>
                <a:latin typeface="Segoe UI" panose="020B0502040204020203" pitchFamily="34" charset="0"/>
              </a:rPr>
              <a:t>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E80449-4316-E476-18B4-71A3C663DC91}"/>
              </a:ext>
            </a:extLst>
          </p:cNvPr>
          <p:cNvSpPr txBox="1"/>
          <p:nvPr/>
        </p:nvSpPr>
        <p:spPr>
          <a:xfrm>
            <a:off x="9042400" y="1524000"/>
            <a:ext cx="24892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Freight &amp; Payments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736D10-EC73-3AAE-6C0E-D9188A2D46D0}"/>
              </a:ext>
            </a:extLst>
          </p:cNvPr>
          <p:cNvSpPr txBox="1"/>
          <p:nvPr/>
        </p:nvSpPr>
        <p:spPr>
          <a:xfrm>
            <a:off x="8331200" y="2159000"/>
            <a:ext cx="31496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Track freight, all charges, advance and balance with an auto Total.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D08AA5E-CC5B-0AA5-72E5-C6CE80C119CD}"/>
              </a:ext>
            </a:extLst>
          </p:cNvPr>
          <p:cNvSpPr/>
          <p:nvPr/>
        </p:nvSpPr>
        <p:spPr>
          <a:xfrm>
            <a:off x="508000" y="34290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565E5D6-7C35-4150-45C4-D073C65B35CE}"/>
              </a:ext>
            </a:extLst>
          </p:cNvPr>
          <p:cNvSpPr/>
          <p:nvPr/>
        </p:nvSpPr>
        <p:spPr>
          <a:xfrm>
            <a:off x="711200" y="3632200"/>
            <a:ext cx="558800" cy="558800"/>
          </a:xfrm>
          <a:prstGeom prst="roundRect">
            <a:avLst>
              <a:gd name="adj" fmla="val 7000"/>
            </a:avLst>
          </a:prstGeom>
          <a:solidFill>
            <a:srgbClr val="FFF6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3D6942-1639-7CE8-7A5F-7DBDDB035C01}"/>
              </a:ext>
            </a:extLst>
          </p:cNvPr>
          <p:cNvSpPr txBox="1"/>
          <p:nvPr/>
        </p:nvSpPr>
        <p:spPr>
          <a:xfrm>
            <a:off x="711200" y="3708400"/>
            <a:ext cx="5588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2200">
                <a:solidFill>
                  <a:srgbClr val="96600C"/>
                </a:solidFill>
                <a:latin typeface="Segoe UI" panose="020B0502040204020203" pitchFamily="34" charset="0"/>
              </a:rPr>
              <a:t>🎁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999309-040D-52BE-6FD5-7FC0B272C81B}"/>
              </a:ext>
            </a:extLst>
          </p:cNvPr>
          <p:cNvSpPr txBox="1"/>
          <p:nvPr/>
        </p:nvSpPr>
        <p:spPr>
          <a:xfrm>
            <a:off x="1422400" y="3683000"/>
            <a:ext cx="24892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Client Incentives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B6716B-A88F-D3BA-6F96-7C6DF0777DDE}"/>
              </a:ext>
            </a:extLst>
          </p:cNvPr>
          <p:cNvSpPr txBox="1"/>
          <p:nvPr/>
        </p:nvSpPr>
        <p:spPr>
          <a:xfrm>
            <a:off x="711200" y="4318000"/>
            <a:ext cx="31496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Record express and extra-point charges and split them driver vs Vistar.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04BC207-FC89-A09E-0442-6797ABFD6F6D}"/>
              </a:ext>
            </a:extLst>
          </p:cNvPr>
          <p:cNvSpPr/>
          <p:nvPr/>
        </p:nvSpPr>
        <p:spPr>
          <a:xfrm>
            <a:off x="4318000" y="34290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592C044-751C-C15B-BA1A-B5A03C11A59F}"/>
              </a:ext>
            </a:extLst>
          </p:cNvPr>
          <p:cNvSpPr/>
          <p:nvPr/>
        </p:nvSpPr>
        <p:spPr>
          <a:xfrm>
            <a:off x="4521200" y="3632200"/>
            <a:ext cx="558800" cy="558800"/>
          </a:xfrm>
          <a:prstGeom prst="roundRect">
            <a:avLst>
              <a:gd name="adj" fmla="val 7000"/>
            </a:avLst>
          </a:prstGeom>
          <a:solidFill>
            <a:srgbClr val="F0E7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E7F4AF-071C-D63C-AD11-AC06FDA53518}"/>
              </a:ext>
            </a:extLst>
          </p:cNvPr>
          <p:cNvSpPr txBox="1"/>
          <p:nvPr/>
        </p:nvSpPr>
        <p:spPr>
          <a:xfrm>
            <a:off x="4521200" y="3708400"/>
            <a:ext cx="5588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2200">
                <a:solidFill>
                  <a:srgbClr val="6B2B6F"/>
                </a:solidFill>
                <a:latin typeface="Segoe UI" panose="020B0502040204020203" pitchFamily="34" charset="0"/>
              </a:rPr>
              <a:t>🏦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74CDAA-03D6-1EA5-7FB6-73BA7E024BE6}"/>
              </a:ext>
            </a:extLst>
          </p:cNvPr>
          <p:cNvSpPr txBox="1"/>
          <p:nvPr/>
        </p:nvSpPr>
        <p:spPr>
          <a:xfrm>
            <a:off x="5232400" y="3683000"/>
            <a:ext cx="24892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Accounts &amp; Billing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D647F0-FA6C-0B41-8A70-B079317BC27A}"/>
              </a:ext>
            </a:extLst>
          </p:cNvPr>
          <p:cNvSpPr txBox="1"/>
          <p:nvPr/>
        </p:nvSpPr>
        <p:spPr>
          <a:xfrm>
            <a:off x="4521200" y="4318000"/>
            <a:ext cx="31496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90% advance now, 10% balance after POD - fully tracked for accounts.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2CA6BB6-298E-CBDE-5144-8D64078E9A71}"/>
              </a:ext>
            </a:extLst>
          </p:cNvPr>
          <p:cNvSpPr/>
          <p:nvPr/>
        </p:nvSpPr>
        <p:spPr>
          <a:xfrm>
            <a:off x="8128000" y="34290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87CF36B-ABA5-73D7-07D1-19A1A4F8BB1D}"/>
              </a:ext>
            </a:extLst>
          </p:cNvPr>
          <p:cNvSpPr/>
          <p:nvPr/>
        </p:nvSpPr>
        <p:spPr>
          <a:xfrm>
            <a:off x="8331200" y="3632200"/>
            <a:ext cx="558800" cy="558800"/>
          </a:xfrm>
          <a:prstGeom prst="roundRect">
            <a:avLst>
              <a:gd name="adj" fmla="val 7000"/>
            </a:avLst>
          </a:prstGeom>
          <a:solidFill>
            <a:srgbClr val="E9F0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B81799-3898-3191-EA29-905459E507E2}"/>
              </a:ext>
            </a:extLst>
          </p:cNvPr>
          <p:cNvSpPr txBox="1"/>
          <p:nvPr/>
        </p:nvSpPr>
        <p:spPr>
          <a:xfrm>
            <a:off x="8331200" y="3708400"/>
            <a:ext cx="5588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2200">
                <a:solidFill>
                  <a:srgbClr val="24569E"/>
                </a:solidFill>
                <a:latin typeface="Segoe UI" panose="020B0502040204020203" pitchFamily="34" charset="0"/>
              </a:rPr>
              <a:t>📊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E063F8-A041-B16C-102E-474F1FD9FD4C}"/>
              </a:ext>
            </a:extLst>
          </p:cNvPr>
          <p:cNvSpPr txBox="1"/>
          <p:nvPr/>
        </p:nvSpPr>
        <p:spPr>
          <a:xfrm>
            <a:off x="9042400" y="3683000"/>
            <a:ext cx="24892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Reports &amp; MIS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7B8C93-236F-5E92-02F7-98C777D8C74C}"/>
              </a:ext>
            </a:extLst>
          </p:cNvPr>
          <p:cNvSpPr txBox="1"/>
          <p:nvPr/>
        </p:nvSpPr>
        <p:spPr>
          <a:xfrm>
            <a:off x="8331200" y="4318000"/>
            <a:ext cx="31496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One-click Excel / MIS export with region, user and date filters.</a:t>
            </a:r>
          </a:p>
        </p:txBody>
      </p:sp>
    </p:spTree>
    <p:extLst>
      <p:ext uri="{BB962C8B-B14F-4D97-AF65-F5344CB8AC3E}">
        <p14:creationId xmlns:p14="http://schemas.microsoft.com/office/powerpoint/2010/main" val="113920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19F548-BC7D-8843-F049-373CD53D1EF7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5DC66A-2064-82CB-B741-3200E38D123D}"/>
              </a:ext>
            </a:extLst>
          </p:cNvPr>
          <p:cNvSpPr txBox="1"/>
          <p:nvPr/>
        </p:nvSpPr>
        <p:spPr>
          <a:xfrm>
            <a:off x="558800" y="190500"/>
            <a:ext cx="9144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How the app is organized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0B436-5106-1F2B-10CD-891CA9247CCC}"/>
              </a:ext>
            </a:extLst>
          </p:cNvPr>
          <p:cNvSpPr txBox="1"/>
          <p:nvPr/>
        </p:nvSpPr>
        <p:spPr>
          <a:xfrm>
            <a:off x="558800" y="609600"/>
            <a:ext cx="914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E8D8EB"/>
                </a:solidFill>
                <a:latin typeface="Segoe UI" panose="020B0502040204020203" pitchFamily="34" charset="0"/>
              </a:rPr>
              <a:t>Everything lives in the menu on the left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CFFDE5-B369-D02D-5413-1B210C617DFE}"/>
              </a:ext>
            </a:extLst>
          </p:cNvPr>
          <p:cNvSpPr txBox="1"/>
          <p:nvPr/>
        </p:nvSpPr>
        <p:spPr>
          <a:xfrm>
            <a:off x="558800" y="6527800"/>
            <a:ext cx="5842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fr-FR" sz="900">
                <a:solidFill>
                  <a:srgbClr val="606074"/>
                </a:solidFill>
                <a:latin typeface="Segoe UI" panose="020B0502040204020203" pitchFamily="34" charset="0"/>
              </a:rPr>
              <a:t>Vistar LR Management   ·   User Guide</a:t>
            </a:r>
            <a:endParaRPr lang="en-US" sz="900">
              <a:solidFill>
                <a:srgbClr val="60607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F61485-0FCE-6912-98A7-882982963E92}"/>
              </a:ext>
            </a:extLst>
          </p:cNvPr>
          <p:cNvSpPr txBox="1"/>
          <p:nvPr/>
        </p:nvSpPr>
        <p:spPr>
          <a:xfrm>
            <a:off x="10414000" y="65278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en-US" sz="900">
                <a:solidFill>
                  <a:srgbClr val="606074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2AA453-5B36-CA4D-1D5E-F3B04A0C6353}"/>
              </a:ext>
            </a:extLst>
          </p:cNvPr>
          <p:cNvSpPr/>
          <p:nvPr/>
        </p:nvSpPr>
        <p:spPr>
          <a:xfrm>
            <a:off x="508000" y="1346200"/>
            <a:ext cx="2717800" cy="4648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11DDD2-F835-AF58-C344-6DE916EF9FBC}"/>
              </a:ext>
            </a:extLst>
          </p:cNvPr>
          <p:cNvSpPr txBox="1"/>
          <p:nvPr/>
        </p:nvSpPr>
        <p:spPr>
          <a:xfrm>
            <a:off x="711200" y="1498600"/>
            <a:ext cx="2413000" cy="21800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250" b="1">
                <a:solidFill>
                  <a:srgbClr val="6B2B6F"/>
                </a:solidFill>
                <a:latin typeface="Segoe UI" panose="020B0502040204020203" pitchFamily="34" charset="0"/>
              </a:rPr>
              <a:t>Operations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D3E333-3A0A-63A6-91CE-16A7A89F8493}"/>
              </a:ext>
            </a:extLst>
          </p:cNvPr>
          <p:cNvSpPr/>
          <p:nvPr/>
        </p:nvSpPr>
        <p:spPr>
          <a:xfrm>
            <a:off x="711200" y="1828800"/>
            <a:ext cx="508000" cy="381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0A4E0F-943E-6B34-265F-5AA7568C9F47}"/>
              </a:ext>
            </a:extLst>
          </p:cNvPr>
          <p:cNvSpPr txBox="1"/>
          <p:nvPr/>
        </p:nvSpPr>
        <p:spPr>
          <a:xfrm>
            <a:off x="711200" y="1981200"/>
            <a:ext cx="2362200" cy="110555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Dashboard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Lorry Receipts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Create LR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E-Way Bills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Warehouse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FC517EA-D1E3-A9D9-8E30-77BFF8070AE8}"/>
              </a:ext>
            </a:extLst>
          </p:cNvPr>
          <p:cNvSpPr/>
          <p:nvPr/>
        </p:nvSpPr>
        <p:spPr>
          <a:xfrm>
            <a:off x="3378200" y="1346200"/>
            <a:ext cx="2717800" cy="4648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BAC7B7-5F59-5750-7CF1-575FCD7633CF}"/>
              </a:ext>
            </a:extLst>
          </p:cNvPr>
          <p:cNvSpPr txBox="1"/>
          <p:nvPr/>
        </p:nvSpPr>
        <p:spPr>
          <a:xfrm>
            <a:off x="3581400" y="1498600"/>
            <a:ext cx="2413000" cy="21800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250" b="1">
                <a:solidFill>
                  <a:srgbClr val="1A844A"/>
                </a:solidFill>
                <a:latin typeface="Segoe UI" panose="020B0502040204020203" pitchFamily="34" charset="0"/>
              </a:rPr>
              <a:t>Masters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1AF155-64FD-B235-56B2-A1E12FA63065}"/>
              </a:ext>
            </a:extLst>
          </p:cNvPr>
          <p:cNvSpPr/>
          <p:nvPr/>
        </p:nvSpPr>
        <p:spPr>
          <a:xfrm>
            <a:off x="3581400" y="1828800"/>
            <a:ext cx="508000" cy="38100"/>
          </a:xfrm>
          <a:prstGeom prst="rect">
            <a:avLst/>
          </a:prstGeom>
          <a:solidFill>
            <a:srgbClr val="1A84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A25AD8-DE79-E4CC-57B9-F2CC57A604E1}"/>
              </a:ext>
            </a:extLst>
          </p:cNvPr>
          <p:cNvSpPr txBox="1"/>
          <p:nvPr/>
        </p:nvSpPr>
        <p:spPr>
          <a:xfrm>
            <a:off x="3581400" y="1981200"/>
            <a:ext cx="2362200" cy="133459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fr-FR" sz="1050">
                <a:solidFill>
                  <a:srgbClr val="606074"/>
                </a:solidFill>
                <a:latin typeface="Segoe UI" panose="020B0502040204020203" pitchFamily="34" charset="0"/>
              </a:rPr>
              <a:t>•  Parties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fr-FR" sz="1050">
                <a:solidFill>
                  <a:srgbClr val="606074"/>
                </a:solidFill>
                <a:latin typeface="Segoe UI" panose="020B0502040204020203" pitchFamily="34" charset="0"/>
              </a:rPr>
              <a:t>•  Vehicles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fr-FR" sz="1050">
                <a:solidFill>
                  <a:srgbClr val="606074"/>
                </a:solidFill>
                <a:latin typeface="Segoe UI" panose="020B0502040204020203" pitchFamily="34" charset="0"/>
              </a:rPr>
              <a:t>•  Drivers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fr-FR" sz="1050">
                <a:solidFill>
                  <a:srgbClr val="606074"/>
                </a:solidFill>
                <a:latin typeface="Segoe UI" panose="020B0502040204020203" pitchFamily="34" charset="0"/>
              </a:rPr>
              <a:t>•  Transporters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fr-FR" sz="1050">
                <a:solidFill>
                  <a:srgbClr val="606074"/>
                </a:solidFill>
                <a:latin typeface="Segoe UI" panose="020B0502040204020203" pitchFamily="34" charset="0"/>
              </a:rPr>
              <a:t>•  Routes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fr-FR" sz="1050">
                <a:solidFill>
                  <a:srgbClr val="606074"/>
                </a:solidFill>
                <a:latin typeface="Segoe UI" panose="020B0502040204020203" pitchFamily="34" charset="0"/>
              </a:rPr>
              <a:t>•  Part Descriptions</a:t>
            </a:r>
            <a:endParaRPr lang="en-US" sz="1050">
              <a:solidFill>
                <a:srgbClr val="60607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53723F-4CF1-5340-D818-5709C6528E12}"/>
              </a:ext>
            </a:extLst>
          </p:cNvPr>
          <p:cNvSpPr/>
          <p:nvPr/>
        </p:nvSpPr>
        <p:spPr>
          <a:xfrm>
            <a:off x="6248400" y="1346200"/>
            <a:ext cx="2717800" cy="4648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B4A584-FC6F-30B4-7F26-87338B75B77D}"/>
              </a:ext>
            </a:extLst>
          </p:cNvPr>
          <p:cNvSpPr txBox="1"/>
          <p:nvPr/>
        </p:nvSpPr>
        <p:spPr>
          <a:xfrm>
            <a:off x="6451600" y="1498600"/>
            <a:ext cx="2413000" cy="21800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250" b="1">
                <a:solidFill>
                  <a:srgbClr val="24569E"/>
                </a:solidFill>
                <a:latin typeface="Segoe UI" panose="020B0502040204020203" pitchFamily="34" charset="0"/>
              </a:rPr>
              <a:t>Insights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5D2306-CD25-0A86-1856-15F7F0052687}"/>
              </a:ext>
            </a:extLst>
          </p:cNvPr>
          <p:cNvSpPr/>
          <p:nvPr/>
        </p:nvSpPr>
        <p:spPr>
          <a:xfrm>
            <a:off x="6451600" y="1828800"/>
            <a:ext cx="508000" cy="38100"/>
          </a:xfrm>
          <a:prstGeom prst="rect">
            <a:avLst/>
          </a:prstGeom>
          <a:solidFill>
            <a:srgbClr val="2456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FA797F-B51E-C3BC-650E-D1BD39D50395}"/>
              </a:ext>
            </a:extLst>
          </p:cNvPr>
          <p:cNvSpPr txBox="1"/>
          <p:nvPr/>
        </p:nvSpPr>
        <p:spPr>
          <a:xfrm>
            <a:off x="6451600" y="1981200"/>
            <a:ext cx="2362200" cy="4184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Reports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Accounts &amp; Billing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095976D-87BA-724B-54FB-D0C3BC5478D2}"/>
              </a:ext>
            </a:extLst>
          </p:cNvPr>
          <p:cNvSpPr/>
          <p:nvPr/>
        </p:nvSpPr>
        <p:spPr>
          <a:xfrm>
            <a:off x="9118600" y="1346200"/>
            <a:ext cx="2717800" cy="4648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B38632-A423-25D7-13A4-D51AE1663F6C}"/>
              </a:ext>
            </a:extLst>
          </p:cNvPr>
          <p:cNvSpPr txBox="1"/>
          <p:nvPr/>
        </p:nvSpPr>
        <p:spPr>
          <a:xfrm>
            <a:off x="9321800" y="1498600"/>
            <a:ext cx="2413000" cy="21800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250" b="1">
                <a:solidFill>
                  <a:srgbClr val="96600C"/>
                </a:solidFill>
                <a:latin typeface="Segoe UI" panose="020B0502040204020203" pitchFamily="34" charset="0"/>
              </a:rPr>
              <a:t>System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BAFA7C-CDC8-A498-8ADE-322857074C25}"/>
              </a:ext>
            </a:extLst>
          </p:cNvPr>
          <p:cNvSpPr/>
          <p:nvPr/>
        </p:nvSpPr>
        <p:spPr>
          <a:xfrm>
            <a:off x="9321800" y="1828800"/>
            <a:ext cx="508000" cy="38100"/>
          </a:xfrm>
          <a:prstGeom prst="rect">
            <a:avLst/>
          </a:prstGeom>
          <a:solidFill>
            <a:srgbClr val="9660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D3EFF9-C599-24B6-6D9E-1E68BAC745CF}"/>
              </a:ext>
            </a:extLst>
          </p:cNvPr>
          <p:cNvSpPr txBox="1"/>
          <p:nvPr/>
        </p:nvSpPr>
        <p:spPr>
          <a:xfrm>
            <a:off x="9321800" y="1981200"/>
            <a:ext cx="2362200" cy="4184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Admin Panel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Regions</a:t>
            </a:r>
          </a:p>
        </p:txBody>
      </p:sp>
    </p:spTree>
    <p:extLst>
      <p:ext uri="{BB962C8B-B14F-4D97-AF65-F5344CB8AC3E}">
        <p14:creationId xmlns:p14="http://schemas.microsoft.com/office/powerpoint/2010/main" val="1043626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85AD76-76BC-87C0-9801-01C191D35097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BFF3E-8558-8D82-391F-4123743DF62B}"/>
              </a:ext>
            </a:extLst>
          </p:cNvPr>
          <p:cNvSpPr txBox="1"/>
          <p:nvPr/>
        </p:nvSpPr>
        <p:spPr>
          <a:xfrm>
            <a:off x="558800" y="190500"/>
            <a:ext cx="9144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Who uses 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36BAA-436A-0BC9-FFFD-293E3E29E4D4}"/>
              </a:ext>
            </a:extLst>
          </p:cNvPr>
          <p:cNvSpPr txBox="1"/>
          <p:nvPr/>
        </p:nvSpPr>
        <p:spPr>
          <a:xfrm>
            <a:off x="558800" y="609600"/>
            <a:ext cx="914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E8D8EB"/>
                </a:solidFill>
                <a:latin typeface="Segoe UI" panose="020B0502040204020203" pitchFamily="34" charset="0"/>
              </a:rPr>
              <a:t>You only ever see the screens and figures your role allows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948AC-2D9F-B370-5850-7C1A85122A68}"/>
              </a:ext>
            </a:extLst>
          </p:cNvPr>
          <p:cNvSpPr txBox="1"/>
          <p:nvPr/>
        </p:nvSpPr>
        <p:spPr>
          <a:xfrm>
            <a:off x="558800" y="6527800"/>
            <a:ext cx="5842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fr-FR" sz="900">
                <a:solidFill>
                  <a:srgbClr val="606074"/>
                </a:solidFill>
                <a:latin typeface="Segoe UI" panose="020B0502040204020203" pitchFamily="34" charset="0"/>
              </a:rPr>
              <a:t>Vistar LR Management   ·   User Guide</a:t>
            </a:r>
            <a:endParaRPr lang="en-US" sz="900">
              <a:solidFill>
                <a:srgbClr val="60607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FCC457-21F3-7862-C46F-339B80C53C80}"/>
              </a:ext>
            </a:extLst>
          </p:cNvPr>
          <p:cNvSpPr txBox="1"/>
          <p:nvPr/>
        </p:nvSpPr>
        <p:spPr>
          <a:xfrm>
            <a:off x="10414000" y="65278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en-US" sz="900">
                <a:solidFill>
                  <a:srgbClr val="606074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8E4DB7-A99C-520D-2DE4-C5F730FE80B3}"/>
              </a:ext>
            </a:extLst>
          </p:cNvPr>
          <p:cNvSpPr/>
          <p:nvPr/>
        </p:nvSpPr>
        <p:spPr>
          <a:xfrm>
            <a:off x="508000" y="1422400"/>
            <a:ext cx="3657600" cy="436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A863E9-C354-66E3-C549-43C5B92E27B8}"/>
              </a:ext>
            </a:extLst>
          </p:cNvPr>
          <p:cNvSpPr/>
          <p:nvPr/>
        </p:nvSpPr>
        <p:spPr>
          <a:xfrm>
            <a:off x="711200" y="1625600"/>
            <a:ext cx="584200" cy="584200"/>
          </a:xfrm>
          <a:prstGeom prst="roundRect">
            <a:avLst>
              <a:gd name="adj" fmla="val 7000"/>
            </a:avLst>
          </a:prstGeom>
          <a:solidFill>
            <a:srgbClr val="F0E7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2C754F-BFDB-50DE-F2CD-B435BC0D275C}"/>
              </a:ext>
            </a:extLst>
          </p:cNvPr>
          <p:cNvSpPr txBox="1"/>
          <p:nvPr/>
        </p:nvSpPr>
        <p:spPr>
          <a:xfrm>
            <a:off x="711200" y="1701800"/>
            <a:ext cx="584200" cy="37959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2300">
                <a:solidFill>
                  <a:srgbClr val="6B2B6F"/>
                </a:solidFill>
                <a:latin typeface="Segoe UI" panose="020B0502040204020203" pitchFamily="34" charset="0"/>
              </a:rPr>
              <a:t>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B52CB8-97BF-EA04-3B3E-2A20F63C5737}"/>
              </a:ext>
            </a:extLst>
          </p:cNvPr>
          <p:cNvSpPr txBox="1"/>
          <p:nvPr/>
        </p:nvSpPr>
        <p:spPr>
          <a:xfrm>
            <a:off x="1447800" y="1727200"/>
            <a:ext cx="2590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400" b="1">
                <a:solidFill>
                  <a:srgbClr val="21212D"/>
                </a:solidFill>
                <a:latin typeface="Segoe UI" panose="020B0502040204020203" pitchFamily="34" charset="0"/>
              </a:rPr>
              <a:t>Operations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4A02AC-0CFB-E58D-D804-F8CFB01BE8E9}"/>
              </a:ext>
            </a:extLst>
          </p:cNvPr>
          <p:cNvSpPr txBox="1"/>
          <p:nvPr/>
        </p:nvSpPr>
        <p:spPr>
          <a:xfrm>
            <a:off x="736600" y="2438400"/>
            <a:ext cx="3251200" cy="772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en-US" sz="1100">
                <a:solidFill>
                  <a:srgbClr val="606074"/>
                </a:solidFill>
                <a:latin typeface="Segoe UI" panose="020B0502040204020203" pitchFamily="34" charset="0"/>
              </a:rPr>
              <a:t>•  Create and manage LRs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en-US" sz="1100">
                <a:solidFill>
                  <a:srgbClr val="606074"/>
                </a:solidFill>
                <a:latin typeface="Segoe UI" panose="020B0502040204020203" pitchFamily="34" charset="0"/>
              </a:rPr>
              <a:t>•  Handle dispatch and e-way bills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en-US" sz="1100">
                <a:solidFill>
                  <a:srgbClr val="606074"/>
                </a:solidFill>
                <a:latin typeface="Segoe UI" panose="020B0502040204020203" pitchFamily="34" charset="0"/>
              </a:rPr>
              <a:t>•  Send LRs for payment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C05E2B4-9E9A-ADF6-169D-53854777E1E3}"/>
              </a:ext>
            </a:extLst>
          </p:cNvPr>
          <p:cNvSpPr/>
          <p:nvPr/>
        </p:nvSpPr>
        <p:spPr>
          <a:xfrm>
            <a:off x="4267200" y="1422400"/>
            <a:ext cx="3657600" cy="436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45565C-4D4A-AE75-DFB8-CEBE3FAF539F}"/>
              </a:ext>
            </a:extLst>
          </p:cNvPr>
          <p:cNvSpPr/>
          <p:nvPr/>
        </p:nvSpPr>
        <p:spPr>
          <a:xfrm>
            <a:off x="4470400" y="1625600"/>
            <a:ext cx="584200" cy="584200"/>
          </a:xfrm>
          <a:prstGeom prst="roundRect">
            <a:avLst>
              <a:gd name="adj" fmla="val 7000"/>
            </a:avLst>
          </a:prstGeom>
          <a:solidFill>
            <a:srgbClr val="E9F6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34A37F-492B-29B5-DB61-6F328DFD692B}"/>
              </a:ext>
            </a:extLst>
          </p:cNvPr>
          <p:cNvSpPr txBox="1"/>
          <p:nvPr/>
        </p:nvSpPr>
        <p:spPr>
          <a:xfrm>
            <a:off x="4470400" y="1701800"/>
            <a:ext cx="584200" cy="37959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2300">
                <a:solidFill>
                  <a:srgbClr val="1A844A"/>
                </a:solidFill>
                <a:latin typeface="Segoe UI" panose="020B0502040204020203" pitchFamily="34" charset="0"/>
              </a:rPr>
              <a:t>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3B3FB1-597F-DBF8-629F-4A1A8240B5F4}"/>
              </a:ext>
            </a:extLst>
          </p:cNvPr>
          <p:cNvSpPr txBox="1"/>
          <p:nvPr/>
        </p:nvSpPr>
        <p:spPr>
          <a:xfrm>
            <a:off x="5207000" y="1727200"/>
            <a:ext cx="2590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400" b="1">
                <a:solidFill>
                  <a:srgbClr val="21212D"/>
                </a:solidFill>
                <a:latin typeface="Segoe UI" panose="020B0502040204020203" pitchFamily="34" charset="0"/>
              </a:rPr>
              <a:t>Accounts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D301AA-72A0-036F-0EF5-C2B25ED3F6DE}"/>
              </a:ext>
            </a:extLst>
          </p:cNvPr>
          <p:cNvSpPr txBox="1"/>
          <p:nvPr/>
        </p:nvSpPr>
        <p:spPr>
          <a:xfrm>
            <a:off x="4495800" y="2438400"/>
            <a:ext cx="3251200" cy="772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en-US" sz="1100">
                <a:solidFill>
                  <a:srgbClr val="606074"/>
                </a:solidFill>
                <a:latin typeface="Segoe UI" panose="020B0502040204020203" pitchFamily="34" charset="0"/>
              </a:rPr>
              <a:t>•  See LRs sent for payment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en-US" sz="1100">
                <a:solidFill>
                  <a:srgbClr val="606074"/>
                </a:solidFill>
                <a:latin typeface="Segoe UI" panose="020B0502040204020203" pitchFamily="34" charset="0"/>
              </a:rPr>
              <a:t>•  Pay 90% advance, settle balance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en-US" sz="1100">
                <a:solidFill>
                  <a:srgbClr val="606074"/>
                </a:solidFill>
                <a:latin typeface="Segoe UI" panose="020B0502040204020203" pitchFamily="34" charset="0"/>
              </a:rPr>
              <a:t>•  Billing and MIS export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D880D7-EC38-6B0D-816D-92B4B395607A}"/>
              </a:ext>
            </a:extLst>
          </p:cNvPr>
          <p:cNvSpPr/>
          <p:nvPr/>
        </p:nvSpPr>
        <p:spPr>
          <a:xfrm>
            <a:off x="8026400" y="1422400"/>
            <a:ext cx="3657600" cy="436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9D2D292-5DB0-F244-E3A8-D7AC286CF295}"/>
              </a:ext>
            </a:extLst>
          </p:cNvPr>
          <p:cNvSpPr/>
          <p:nvPr/>
        </p:nvSpPr>
        <p:spPr>
          <a:xfrm>
            <a:off x="8229600" y="1625600"/>
            <a:ext cx="584200" cy="584200"/>
          </a:xfrm>
          <a:prstGeom prst="roundRect">
            <a:avLst>
              <a:gd name="adj" fmla="val 7000"/>
            </a:avLst>
          </a:prstGeom>
          <a:solidFill>
            <a:srgbClr val="E9F0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609780-A382-6E57-57B1-C4625856CE20}"/>
              </a:ext>
            </a:extLst>
          </p:cNvPr>
          <p:cNvSpPr txBox="1"/>
          <p:nvPr/>
        </p:nvSpPr>
        <p:spPr>
          <a:xfrm>
            <a:off x="8229600" y="1701800"/>
            <a:ext cx="584200" cy="37959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2300">
                <a:solidFill>
                  <a:srgbClr val="24569E"/>
                </a:solidFill>
                <a:latin typeface="Segoe UI" panose="020B0502040204020203" pitchFamily="34" charset="0"/>
              </a:rPr>
              <a:t>🛡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8DF826-4AFB-1B93-0918-005BD82AA879}"/>
              </a:ext>
            </a:extLst>
          </p:cNvPr>
          <p:cNvSpPr txBox="1"/>
          <p:nvPr/>
        </p:nvSpPr>
        <p:spPr>
          <a:xfrm>
            <a:off x="8966200" y="1727200"/>
            <a:ext cx="2590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400" b="1">
                <a:solidFill>
                  <a:srgbClr val="21212D"/>
                </a:solidFill>
                <a:latin typeface="Segoe UI" panose="020B0502040204020203" pitchFamily="34" charset="0"/>
              </a:rPr>
              <a:t>Admin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CE6FA0-87CA-30C9-C47C-5EB3AB2DBCD1}"/>
              </a:ext>
            </a:extLst>
          </p:cNvPr>
          <p:cNvSpPr txBox="1"/>
          <p:nvPr/>
        </p:nvSpPr>
        <p:spPr>
          <a:xfrm>
            <a:off x="8255000" y="2438400"/>
            <a:ext cx="3251200" cy="772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en-US" sz="1100">
                <a:solidFill>
                  <a:srgbClr val="606074"/>
                </a:solidFill>
                <a:latin typeface="Segoe UI" panose="020B0502040204020203" pitchFamily="34" charset="0"/>
              </a:rPr>
              <a:t>•  Manage users and regions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en-US" sz="1100">
                <a:solidFill>
                  <a:srgbClr val="606074"/>
                </a:solidFill>
                <a:latin typeface="Segoe UI" panose="020B0502040204020203" pitchFamily="34" charset="0"/>
              </a:rPr>
              <a:t>•  App settings and LR format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en-US" sz="1100">
                <a:solidFill>
                  <a:srgbClr val="606074"/>
                </a:solidFill>
                <a:latin typeface="Segoe UI" panose="020B0502040204020203" pitchFamily="34" charset="0"/>
              </a:rPr>
              <a:t>•  Full visibility across data</a:t>
            </a:r>
          </a:p>
        </p:txBody>
      </p:sp>
    </p:spTree>
    <p:extLst>
      <p:ext uri="{BB962C8B-B14F-4D97-AF65-F5344CB8AC3E}">
        <p14:creationId xmlns:p14="http://schemas.microsoft.com/office/powerpoint/2010/main" val="3804871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86F62-0CA3-BFE0-441A-6727D0F21177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627DEF-966A-D5FA-E19F-C69D55850329}"/>
              </a:ext>
            </a:extLst>
          </p:cNvPr>
          <p:cNvSpPr txBox="1"/>
          <p:nvPr/>
        </p:nvSpPr>
        <p:spPr>
          <a:xfrm>
            <a:off x="558800" y="190500"/>
            <a:ext cx="9144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Getting started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73AF25-8146-0B29-90B2-DDDDACB4B901}"/>
              </a:ext>
            </a:extLst>
          </p:cNvPr>
          <p:cNvSpPr txBox="1"/>
          <p:nvPr/>
        </p:nvSpPr>
        <p:spPr>
          <a:xfrm>
            <a:off x="558800" y="609600"/>
            <a:ext cx="914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E8D8EB"/>
                </a:solidFill>
                <a:latin typeface="Segoe UI" panose="020B0502040204020203" pitchFamily="34" charset="0"/>
              </a:rPr>
              <a:t>Signing 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22A082-86EB-48C8-36A6-A5D3485AD5F3}"/>
              </a:ext>
            </a:extLst>
          </p:cNvPr>
          <p:cNvSpPr txBox="1"/>
          <p:nvPr/>
        </p:nvSpPr>
        <p:spPr>
          <a:xfrm>
            <a:off x="558800" y="6527800"/>
            <a:ext cx="5842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fr-FR" sz="900">
                <a:solidFill>
                  <a:srgbClr val="606074"/>
                </a:solidFill>
                <a:latin typeface="Segoe UI" panose="020B0502040204020203" pitchFamily="34" charset="0"/>
              </a:rPr>
              <a:t>Vistar LR Management   ·   User Guide</a:t>
            </a:r>
            <a:endParaRPr lang="en-US" sz="900">
              <a:solidFill>
                <a:srgbClr val="60607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586A79-7A21-D7EB-18B9-6A79B5E2B32E}"/>
              </a:ext>
            </a:extLst>
          </p:cNvPr>
          <p:cNvSpPr txBox="1"/>
          <p:nvPr/>
        </p:nvSpPr>
        <p:spPr>
          <a:xfrm>
            <a:off x="10414000" y="65278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en-US" sz="900">
                <a:solidFill>
                  <a:srgbClr val="606074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20394D7-E566-3E77-6D2F-3EBE89BAAC40}"/>
              </a:ext>
            </a:extLst>
          </p:cNvPr>
          <p:cNvSpPr/>
          <p:nvPr/>
        </p:nvSpPr>
        <p:spPr>
          <a:xfrm>
            <a:off x="762000" y="1651000"/>
            <a:ext cx="1524000" cy="1524000"/>
          </a:xfrm>
          <a:prstGeom prst="roundRect">
            <a:avLst>
              <a:gd name="adj" fmla="val 7000"/>
            </a:avLst>
          </a:prstGeom>
          <a:solidFill>
            <a:srgbClr val="F0E7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D2B6F-8256-FBDA-F283-14633E0A4876}"/>
              </a:ext>
            </a:extLst>
          </p:cNvPr>
          <p:cNvSpPr txBox="1"/>
          <p:nvPr/>
        </p:nvSpPr>
        <p:spPr>
          <a:xfrm>
            <a:off x="762000" y="1866900"/>
            <a:ext cx="1524000" cy="94897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6000">
                <a:solidFill>
                  <a:srgbClr val="6B2B6F"/>
                </a:solidFill>
                <a:latin typeface="Segoe UI" panose="020B0502040204020203" pitchFamily="34" charset="0"/>
              </a:rPr>
              <a:t>🔐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887E7F8-6C87-2BF4-3020-858BC0A41BC3}"/>
              </a:ext>
            </a:extLst>
          </p:cNvPr>
          <p:cNvSpPr/>
          <p:nvPr/>
        </p:nvSpPr>
        <p:spPr>
          <a:xfrm>
            <a:off x="3048000" y="1524000"/>
            <a:ext cx="431800" cy="431800"/>
          </a:xfrm>
          <a:prstGeom prst="ellipse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5AF916-B485-99D7-9929-E18E67604F0E}"/>
              </a:ext>
            </a:extLst>
          </p:cNvPr>
          <p:cNvSpPr txBox="1"/>
          <p:nvPr/>
        </p:nvSpPr>
        <p:spPr>
          <a:xfrm>
            <a:off x="3048000" y="1574800"/>
            <a:ext cx="431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AAFD19-8B3F-02E4-57FB-31F7C95328D8}"/>
              </a:ext>
            </a:extLst>
          </p:cNvPr>
          <p:cNvSpPr txBox="1"/>
          <p:nvPr/>
        </p:nvSpPr>
        <p:spPr>
          <a:xfrm>
            <a:off x="3632200" y="1511300"/>
            <a:ext cx="7797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Open the web link in any browser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B14CE1-0808-668D-6874-A9B600D7F809}"/>
              </a:ext>
            </a:extLst>
          </p:cNvPr>
          <p:cNvSpPr txBox="1"/>
          <p:nvPr/>
        </p:nvSpPr>
        <p:spPr>
          <a:xfrm>
            <a:off x="3632200" y="1803400"/>
            <a:ext cx="7797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Works on laptop, desktop or mobile - no install needed.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DFD3A73-EC80-2461-A31C-CC62749B13B6}"/>
              </a:ext>
            </a:extLst>
          </p:cNvPr>
          <p:cNvSpPr/>
          <p:nvPr/>
        </p:nvSpPr>
        <p:spPr>
          <a:xfrm>
            <a:off x="3048000" y="2540000"/>
            <a:ext cx="431800" cy="431800"/>
          </a:xfrm>
          <a:prstGeom prst="ellipse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1C99E-F8A7-E1EA-2E5B-D252019FBB15}"/>
              </a:ext>
            </a:extLst>
          </p:cNvPr>
          <p:cNvSpPr txBox="1"/>
          <p:nvPr/>
        </p:nvSpPr>
        <p:spPr>
          <a:xfrm>
            <a:off x="3048000" y="2590800"/>
            <a:ext cx="431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99A8E9-0C99-3E43-6E07-A4BFB86C7F4C}"/>
              </a:ext>
            </a:extLst>
          </p:cNvPr>
          <p:cNvSpPr txBox="1"/>
          <p:nvPr/>
        </p:nvSpPr>
        <p:spPr>
          <a:xfrm>
            <a:off x="3632200" y="2527300"/>
            <a:ext cx="7797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Enter your email and password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07A04A-3DAB-914B-10BD-292A9A4707C1}"/>
              </a:ext>
            </a:extLst>
          </p:cNvPr>
          <p:cNvSpPr txBox="1"/>
          <p:nvPr/>
        </p:nvSpPr>
        <p:spPr>
          <a:xfrm>
            <a:off x="3632200" y="2819400"/>
            <a:ext cx="7797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Use the credentials shared by your administrator.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C5A8FB-5109-DFE1-B351-B60650283501}"/>
              </a:ext>
            </a:extLst>
          </p:cNvPr>
          <p:cNvSpPr/>
          <p:nvPr/>
        </p:nvSpPr>
        <p:spPr>
          <a:xfrm>
            <a:off x="3048000" y="3556000"/>
            <a:ext cx="431800" cy="431800"/>
          </a:xfrm>
          <a:prstGeom prst="ellipse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1952B1-A15D-AD8C-AFA4-5734CCE26E76}"/>
              </a:ext>
            </a:extLst>
          </p:cNvPr>
          <p:cNvSpPr txBox="1"/>
          <p:nvPr/>
        </p:nvSpPr>
        <p:spPr>
          <a:xfrm>
            <a:off x="3048000" y="3606800"/>
            <a:ext cx="431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1211CE-D53E-F633-28F2-BC65A1BA8713}"/>
              </a:ext>
            </a:extLst>
          </p:cNvPr>
          <p:cNvSpPr txBox="1"/>
          <p:nvPr/>
        </p:nvSpPr>
        <p:spPr>
          <a:xfrm>
            <a:off x="3632200" y="3543300"/>
            <a:ext cx="7797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You land on your Dashboard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DEDEF7-C5DB-EBC9-C430-736BD5EB8AF2}"/>
              </a:ext>
            </a:extLst>
          </p:cNvPr>
          <p:cNvSpPr txBox="1"/>
          <p:nvPr/>
        </p:nvSpPr>
        <p:spPr>
          <a:xfrm>
            <a:off x="3632200" y="3835400"/>
            <a:ext cx="7797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From here the left menu takes you anywhere in the app.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2BA52F3-0056-81DA-68BB-881F958E6E6A}"/>
              </a:ext>
            </a:extLst>
          </p:cNvPr>
          <p:cNvSpPr/>
          <p:nvPr/>
        </p:nvSpPr>
        <p:spPr>
          <a:xfrm>
            <a:off x="3048000" y="4572000"/>
            <a:ext cx="8382000" cy="889000"/>
          </a:xfrm>
          <a:prstGeom prst="roundRect">
            <a:avLst>
              <a:gd name="adj" fmla="val 7000"/>
            </a:avLst>
          </a:prstGeom>
          <a:solidFill>
            <a:srgbClr val="E9F0FA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9C606A-5417-1A83-5CBE-D95388E26800}"/>
              </a:ext>
            </a:extLst>
          </p:cNvPr>
          <p:cNvSpPr txBox="1"/>
          <p:nvPr/>
        </p:nvSpPr>
        <p:spPr>
          <a:xfrm>
            <a:off x="3327400" y="4749800"/>
            <a:ext cx="78232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50">
                <a:solidFill>
                  <a:srgbClr val="24569E"/>
                </a:solidFill>
                <a:latin typeface="Segoe UI" panose="020B0502040204020203" pitchFamily="34" charset="0"/>
              </a:rPr>
              <a:t>Forgot your password? Use the “Forgot password” link on the login screen to reset it by email.</a:t>
            </a:r>
          </a:p>
        </p:txBody>
      </p:sp>
    </p:spTree>
    <p:extLst>
      <p:ext uri="{BB962C8B-B14F-4D97-AF65-F5344CB8AC3E}">
        <p14:creationId xmlns:p14="http://schemas.microsoft.com/office/powerpoint/2010/main" val="445943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6A4132-3B05-03AB-14A5-60D7001423B6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50C68B-0CF9-4C32-8908-F644A4505341}"/>
              </a:ext>
            </a:extLst>
          </p:cNvPr>
          <p:cNvSpPr txBox="1"/>
          <p:nvPr/>
        </p:nvSpPr>
        <p:spPr>
          <a:xfrm>
            <a:off x="558800" y="190500"/>
            <a:ext cx="9144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Your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D388DE-7DF1-79B7-891C-3107A4319CDF}"/>
              </a:ext>
            </a:extLst>
          </p:cNvPr>
          <p:cNvSpPr txBox="1"/>
          <p:nvPr/>
        </p:nvSpPr>
        <p:spPr>
          <a:xfrm>
            <a:off x="558800" y="609600"/>
            <a:ext cx="914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E8D8EB"/>
                </a:solidFill>
                <a:latin typeface="Segoe UI" panose="020B0502040204020203" pitchFamily="34" charset="0"/>
              </a:rPr>
              <a:t>A quick health-check the moment you log 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59057E-4A6E-E27D-F034-61108B3DC0CA}"/>
              </a:ext>
            </a:extLst>
          </p:cNvPr>
          <p:cNvSpPr txBox="1"/>
          <p:nvPr/>
        </p:nvSpPr>
        <p:spPr>
          <a:xfrm>
            <a:off x="558800" y="6527800"/>
            <a:ext cx="5842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fr-FR" sz="900">
                <a:solidFill>
                  <a:srgbClr val="606074"/>
                </a:solidFill>
                <a:latin typeface="Segoe UI" panose="020B0502040204020203" pitchFamily="34" charset="0"/>
              </a:rPr>
              <a:t>Vistar LR Management   ·   User Guide</a:t>
            </a:r>
            <a:endParaRPr lang="en-US" sz="900">
              <a:solidFill>
                <a:srgbClr val="60607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043CFC-9EC4-1263-C370-5DE104F1EBEA}"/>
              </a:ext>
            </a:extLst>
          </p:cNvPr>
          <p:cNvSpPr txBox="1"/>
          <p:nvPr/>
        </p:nvSpPr>
        <p:spPr>
          <a:xfrm>
            <a:off x="10414000" y="65278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en-US" sz="900">
                <a:solidFill>
                  <a:srgbClr val="606074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87B252-64D9-FB42-0855-B72B67BFEFC2}"/>
              </a:ext>
            </a:extLst>
          </p:cNvPr>
          <p:cNvSpPr txBox="1"/>
          <p:nvPr/>
        </p:nvSpPr>
        <p:spPr>
          <a:xfrm>
            <a:off x="762000" y="1524000"/>
            <a:ext cx="10668000" cy="146399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300">
                <a:solidFill>
                  <a:srgbClr val="21212D"/>
                </a:solidFill>
                <a:latin typeface="Segoe UI" panose="020B0502040204020203" pitchFamily="34" charset="0"/>
              </a:rPr>
              <a:t>•  See your total LRs and the most recent activity at a glance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300">
                <a:solidFill>
                  <a:srgbClr val="21212D"/>
                </a:solidFill>
                <a:latin typeface="Segoe UI" panose="020B0502040204020203" pitchFamily="34" charset="0"/>
              </a:rPr>
              <a:t>•  Quick counts - LRs in progress, pending payments and more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300">
                <a:solidFill>
                  <a:srgbClr val="21212D"/>
                </a:solidFill>
                <a:latin typeface="Segoe UI" panose="020B0502040204020203" pitchFamily="34" charset="0"/>
              </a:rPr>
              <a:t>•  Margin and money figures appear only if your role permits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300">
                <a:solidFill>
                  <a:srgbClr val="21212D"/>
                </a:solidFill>
                <a:latin typeface="Segoe UI" panose="020B0502040204020203" pitchFamily="34" charset="0"/>
              </a:rPr>
              <a:t>•  Jump straight to Create LR or the Lorry Receipts list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300">
                <a:solidFill>
                  <a:srgbClr val="21212D"/>
                </a:solidFill>
                <a:latin typeface="Segoe UI" panose="020B0502040204020203" pitchFamily="34" charset="0"/>
              </a:rPr>
              <a:t>•  A fast way to spot what needs attention today</a:t>
            </a:r>
          </a:p>
        </p:txBody>
      </p:sp>
    </p:spTree>
    <p:extLst>
      <p:ext uri="{BB962C8B-B14F-4D97-AF65-F5344CB8AC3E}">
        <p14:creationId xmlns:p14="http://schemas.microsoft.com/office/powerpoint/2010/main" val="1455890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9299ED-FF21-BA3A-9BB3-6B2E83296DA1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92CB9-190A-23A4-6B08-FAE54F254F88}"/>
              </a:ext>
            </a:extLst>
          </p:cNvPr>
          <p:cNvSpPr txBox="1"/>
          <p:nvPr/>
        </p:nvSpPr>
        <p:spPr>
          <a:xfrm>
            <a:off x="558800" y="190500"/>
            <a:ext cx="9144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Create a Lorry Receipt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791200-DBEF-0BF1-88C2-F7411CD319C3}"/>
              </a:ext>
            </a:extLst>
          </p:cNvPr>
          <p:cNvSpPr txBox="1"/>
          <p:nvPr/>
        </p:nvSpPr>
        <p:spPr>
          <a:xfrm>
            <a:off x="558800" y="609600"/>
            <a:ext cx="914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E8D8EB"/>
                </a:solidFill>
                <a:latin typeface="Segoe UI" panose="020B0502040204020203" pitchFamily="34" charset="0"/>
              </a:rPr>
              <a:t>Six simple sections, filled top to bottom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8015FC-58F6-BC2B-1CEA-47A36A1F99A5}"/>
              </a:ext>
            </a:extLst>
          </p:cNvPr>
          <p:cNvSpPr txBox="1"/>
          <p:nvPr/>
        </p:nvSpPr>
        <p:spPr>
          <a:xfrm>
            <a:off x="558800" y="6527800"/>
            <a:ext cx="5842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fr-FR" sz="900">
                <a:solidFill>
                  <a:srgbClr val="606074"/>
                </a:solidFill>
                <a:latin typeface="Segoe UI" panose="020B0502040204020203" pitchFamily="34" charset="0"/>
              </a:rPr>
              <a:t>Vistar LR Management   ·   User Guide</a:t>
            </a:r>
            <a:endParaRPr lang="en-US" sz="900">
              <a:solidFill>
                <a:srgbClr val="60607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44477B-0A8A-D5AF-8163-9964EBBBE541}"/>
              </a:ext>
            </a:extLst>
          </p:cNvPr>
          <p:cNvSpPr txBox="1"/>
          <p:nvPr/>
        </p:nvSpPr>
        <p:spPr>
          <a:xfrm>
            <a:off x="10414000" y="65278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en-US" sz="900">
                <a:solidFill>
                  <a:srgbClr val="606074"/>
                </a:solidFill>
                <a:latin typeface="Segoe UI" panose="020B0502040204020203" pitchFamily="34" charset="0"/>
              </a:rPr>
              <a:t>8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492F46-974C-CF98-5BBB-0D7D70DE5830}"/>
              </a:ext>
            </a:extLst>
          </p:cNvPr>
          <p:cNvSpPr/>
          <p:nvPr/>
        </p:nvSpPr>
        <p:spPr>
          <a:xfrm>
            <a:off x="889000" y="1371600"/>
            <a:ext cx="431800" cy="431800"/>
          </a:xfrm>
          <a:prstGeom prst="ellipse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1460FC-AF7E-EA67-820A-478DE7965B2E}"/>
              </a:ext>
            </a:extLst>
          </p:cNvPr>
          <p:cNvSpPr txBox="1"/>
          <p:nvPr/>
        </p:nvSpPr>
        <p:spPr>
          <a:xfrm>
            <a:off x="889000" y="1422400"/>
            <a:ext cx="431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A46E35-CF9C-4798-33E9-1870E3ABFADC}"/>
              </a:ext>
            </a:extLst>
          </p:cNvPr>
          <p:cNvSpPr txBox="1"/>
          <p:nvPr/>
        </p:nvSpPr>
        <p:spPr>
          <a:xfrm>
            <a:off x="1473200" y="1358900"/>
            <a:ext cx="9829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Parties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C3535A-32D8-327F-C2A7-9DFD3CA4ED39}"/>
              </a:ext>
            </a:extLst>
          </p:cNvPr>
          <p:cNvSpPr txBox="1"/>
          <p:nvPr/>
        </p:nvSpPr>
        <p:spPr>
          <a:xfrm>
            <a:off x="1473200" y="1651000"/>
            <a:ext cx="9829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Consignor (sender) and consignee (receiver)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6A1BB4-AEDE-7B25-C7D7-D6C5EBBCFC2A}"/>
              </a:ext>
            </a:extLst>
          </p:cNvPr>
          <p:cNvSpPr/>
          <p:nvPr/>
        </p:nvSpPr>
        <p:spPr>
          <a:xfrm>
            <a:off x="889000" y="2159000"/>
            <a:ext cx="431800" cy="431800"/>
          </a:xfrm>
          <a:prstGeom prst="ellipse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6E9477-1EBB-C94A-206D-B05C287F988D}"/>
              </a:ext>
            </a:extLst>
          </p:cNvPr>
          <p:cNvSpPr txBox="1"/>
          <p:nvPr/>
        </p:nvSpPr>
        <p:spPr>
          <a:xfrm>
            <a:off x="889000" y="2209800"/>
            <a:ext cx="431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DD86A0-035B-2C90-56D4-D5F7DE2F4B1A}"/>
              </a:ext>
            </a:extLst>
          </p:cNvPr>
          <p:cNvSpPr txBox="1"/>
          <p:nvPr/>
        </p:nvSpPr>
        <p:spPr>
          <a:xfrm>
            <a:off x="1473200" y="2146300"/>
            <a:ext cx="9829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Vehicle &amp; Route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E36037-F825-EDCC-9652-6938E9A0D173}"/>
              </a:ext>
            </a:extLst>
          </p:cNvPr>
          <p:cNvSpPr txBox="1"/>
          <p:nvPr/>
        </p:nvSpPr>
        <p:spPr>
          <a:xfrm>
            <a:off x="1473200" y="2438400"/>
            <a:ext cx="9829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Vehicle auto-fills driver and transporter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314443-D05B-CDB2-5DAE-DDA6425568A2}"/>
              </a:ext>
            </a:extLst>
          </p:cNvPr>
          <p:cNvSpPr/>
          <p:nvPr/>
        </p:nvSpPr>
        <p:spPr>
          <a:xfrm>
            <a:off x="889000" y="2946400"/>
            <a:ext cx="431800" cy="431800"/>
          </a:xfrm>
          <a:prstGeom prst="ellipse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06CB05-A520-6912-E5F0-6A5DB3A0B0CA}"/>
              </a:ext>
            </a:extLst>
          </p:cNvPr>
          <p:cNvSpPr txBox="1"/>
          <p:nvPr/>
        </p:nvSpPr>
        <p:spPr>
          <a:xfrm>
            <a:off x="889000" y="2997200"/>
            <a:ext cx="431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673429-8A31-4FB1-81FF-9D43874914D0}"/>
              </a:ext>
            </a:extLst>
          </p:cNvPr>
          <p:cNvSpPr txBox="1"/>
          <p:nvPr/>
        </p:nvSpPr>
        <p:spPr>
          <a:xfrm>
            <a:off x="1473200" y="2933700"/>
            <a:ext cx="9829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Invoice &amp; Goods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5F4FF1-1112-F976-2E7E-68B5E7C45A76}"/>
              </a:ext>
            </a:extLst>
          </p:cNvPr>
          <p:cNvSpPr txBox="1"/>
          <p:nvPr/>
        </p:nvSpPr>
        <p:spPr>
          <a:xfrm>
            <a:off x="1473200" y="3225800"/>
            <a:ext cx="9829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Invoices, items, packages and weight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35EDF87-4C20-ABF3-44B8-A3AFA2005F30}"/>
              </a:ext>
            </a:extLst>
          </p:cNvPr>
          <p:cNvSpPr/>
          <p:nvPr/>
        </p:nvSpPr>
        <p:spPr>
          <a:xfrm>
            <a:off x="889000" y="3733800"/>
            <a:ext cx="431800" cy="431800"/>
          </a:xfrm>
          <a:prstGeom prst="ellipse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5FE8D9-6A9B-43D0-73C2-C577F9785F39}"/>
              </a:ext>
            </a:extLst>
          </p:cNvPr>
          <p:cNvSpPr txBox="1"/>
          <p:nvPr/>
        </p:nvSpPr>
        <p:spPr>
          <a:xfrm>
            <a:off x="889000" y="3784600"/>
            <a:ext cx="431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7D708A-D6B4-DC5E-12E5-BAB47DF48126}"/>
              </a:ext>
            </a:extLst>
          </p:cNvPr>
          <p:cNvSpPr txBox="1"/>
          <p:nvPr/>
        </p:nvSpPr>
        <p:spPr>
          <a:xfrm>
            <a:off x="1473200" y="3721100"/>
            <a:ext cx="9829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Freight &amp; Payment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C58B0C-44D1-85BF-F107-C39E892BEAF9}"/>
              </a:ext>
            </a:extLst>
          </p:cNvPr>
          <p:cNvSpPr txBox="1"/>
          <p:nvPr/>
        </p:nvSpPr>
        <p:spPr>
          <a:xfrm>
            <a:off x="1473200" y="4013200"/>
            <a:ext cx="9829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Freight, charges, advance - Total auto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7895F81-4C28-C699-97D1-B3D292FF523B}"/>
              </a:ext>
            </a:extLst>
          </p:cNvPr>
          <p:cNvSpPr/>
          <p:nvPr/>
        </p:nvSpPr>
        <p:spPr>
          <a:xfrm>
            <a:off x="889000" y="4521200"/>
            <a:ext cx="431800" cy="431800"/>
          </a:xfrm>
          <a:prstGeom prst="ellipse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F3C87A-0830-54EA-1A7E-85B5888478D2}"/>
              </a:ext>
            </a:extLst>
          </p:cNvPr>
          <p:cNvSpPr txBox="1"/>
          <p:nvPr/>
        </p:nvSpPr>
        <p:spPr>
          <a:xfrm>
            <a:off x="889000" y="4572000"/>
            <a:ext cx="431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3A9AFE-B89D-20D6-B2DB-CCE3AB26D198}"/>
              </a:ext>
            </a:extLst>
          </p:cNvPr>
          <p:cNvSpPr txBox="1"/>
          <p:nvPr/>
        </p:nvSpPr>
        <p:spPr>
          <a:xfrm>
            <a:off x="1473200" y="4508500"/>
            <a:ext cx="9829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Incentive Charges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F47F6B-7848-87CC-F3DD-E11AA383CD99}"/>
              </a:ext>
            </a:extLst>
          </p:cNvPr>
          <p:cNvSpPr txBox="1"/>
          <p:nvPr/>
        </p:nvSpPr>
        <p:spPr>
          <a:xfrm>
            <a:off x="1473200" y="4800600"/>
            <a:ext cx="9829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Express and extra-point client incentives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C8B0A54-57F9-9F22-0CF0-9EA0D39B8B26}"/>
              </a:ext>
            </a:extLst>
          </p:cNvPr>
          <p:cNvSpPr/>
          <p:nvPr/>
        </p:nvSpPr>
        <p:spPr>
          <a:xfrm>
            <a:off x="889000" y="5308600"/>
            <a:ext cx="431800" cy="431800"/>
          </a:xfrm>
          <a:prstGeom prst="ellipse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39AA8C-6A5E-86D8-B0B4-FD45BE5CC9FF}"/>
              </a:ext>
            </a:extLst>
          </p:cNvPr>
          <p:cNvSpPr txBox="1"/>
          <p:nvPr/>
        </p:nvSpPr>
        <p:spPr>
          <a:xfrm>
            <a:off x="889000" y="5359400"/>
            <a:ext cx="431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FF2089-F712-D981-C196-18C98B9EAD64}"/>
              </a:ext>
            </a:extLst>
          </p:cNvPr>
          <p:cNvSpPr txBox="1"/>
          <p:nvPr/>
        </p:nvSpPr>
        <p:spPr>
          <a:xfrm>
            <a:off x="1473200" y="5295900"/>
            <a:ext cx="9829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Save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1FAFA0-1C2B-D9D7-55D8-94F73DA66DDB}"/>
              </a:ext>
            </a:extLst>
          </p:cNvPr>
          <p:cNvSpPr txBox="1"/>
          <p:nvPr/>
        </p:nvSpPr>
        <p:spPr>
          <a:xfrm>
            <a:off x="1473200" y="5588000"/>
            <a:ext cx="9829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LR number is generated automatically</a:t>
            </a:r>
          </a:p>
        </p:txBody>
      </p:sp>
    </p:spTree>
    <p:extLst>
      <p:ext uri="{BB962C8B-B14F-4D97-AF65-F5344CB8AC3E}">
        <p14:creationId xmlns:p14="http://schemas.microsoft.com/office/powerpoint/2010/main" val="1912220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F25491-9454-EDDB-D75D-4764DE934935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26F92-0064-9D87-E5C4-9CB0BC167117}"/>
              </a:ext>
            </a:extLst>
          </p:cNvPr>
          <p:cNvSpPr txBox="1"/>
          <p:nvPr/>
        </p:nvSpPr>
        <p:spPr>
          <a:xfrm>
            <a:off x="558800" y="190500"/>
            <a:ext cx="9144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Create an LR – details (steps 1 to 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6E379A-CF93-A3AC-4D0A-09B6E8BD6C4F}"/>
              </a:ext>
            </a:extLst>
          </p:cNvPr>
          <p:cNvSpPr txBox="1"/>
          <p:nvPr/>
        </p:nvSpPr>
        <p:spPr>
          <a:xfrm>
            <a:off x="558800" y="6527800"/>
            <a:ext cx="5842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fr-FR" sz="900">
                <a:solidFill>
                  <a:srgbClr val="606074"/>
                </a:solidFill>
                <a:latin typeface="Segoe UI" panose="020B0502040204020203" pitchFamily="34" charset="0"/>
              </a:rPr>
              <a:t>Vistar LR Management   ·   User Guide</a:t>
            </a:r>
            <a:endParaRPr lang="en-US" sz="900">
              <a:solidFill>
                <a:srgbClr val="60607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9169D-6B12-404F-CE5F-6D046D648BE0}"/>
              </a:ext>
            </a:extLst>
          </p:cNvPr>
          <p:cNvSpPr txBox="1"/>
          <p:nvPr/>
        </p:nvSpPr>
        <p:spPr>
          <a:xfrm>
            <a:off x="10414000" y="65278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en-US" sz="900">
                <a:solidFill>
                  <a:srgbClr val="606074"/>
                </a:solidFill>
                <a:latin typeface="Segoe UI" panose="020B0502040204020203" pitchFamily="34" charset="0"/>
              </a:rPr>
              <a:t>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4323CA-8153-4923-26D5-0ECFD1B943D5}"/>
              </a:ext>
            </a:extLst>
          </p:cNvPr>
          <p:cNvSpPr/>
          <p:nvPr/>
        </p:nvSpPr>
        <p:spPr>
          <a:xfrm>
            <a:off x="508000" y="1371600"/>
            <a:ext cx="3556000" cy="444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E3FE73-D466-AAA5-5936-AFB47F5F181A}"/>
              </a:ext>
            </a:extLst>
          </p:cNvPr>
          <p:cNvSpPr txBox="1"/>
          <p:nvPr/>
        </p:nvSpPr>
        <p:spPr>
          <a:xfrm>
            <a:off x="711200" y="1524000"/>
            <a:ext cx="3251200" cy="21800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250" b="1">
                <a:solidFill>
                  <a:srgbClr val="6B2B6F"/>
                </a:solidFill>
                <a:latin typeface="Segoe UI" panose="020B0502040204020203" pitchFamily="34" charset="0"/>
              </a:rPr>
              <a:t>1. Parties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82BE9D-DB50-60D0-0BB1-6583E97DED28}"/>
              </a:ext>
            </a:extLst>
          </p:cNvPr>
          <p:cNvSpPr/>
          <p:nvPr/>
        </p:nvSpPr>
        <p:spPr>
          <a:xfrm>
            <a:off x="711200" y="1854200"/>
            <a:ext cx="508000" cy="381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2DEC16-3B84-BBD8-40C8-60CD5571DB3F}"/>
              </a:ext>
            </a:extLst>
          </p:cNvPr>
          <p:cNvSpPr txBox="1"/>
          <p:nvPr/>
        </p:nvSpPr>
        <p:spPr>
          <a:xfrm>
            <a:off x="711200" y="2006600"/>
            <a:ext cx="3200400" cy="87652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Choose the Consignor (sender)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Choose the Consignee (receiver)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Add a new party inline if it is missing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Pick the Customer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48C665-D2E3-9A09-FFD2-0A0654DE5ACE}"/>
              </a:ext>
            </a:extLst>
          </p:cNvPr>
          <p:cNvSpPr/>
          <p:nvPr/>
        </p:nvSpPr>
        <p:spPr>
          <a:xfrm>
            <a:off x="4318000" y="1371600"/>
            <a:ext cx="3556000" cy="444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C0CDC3-3627-926E-CF58-D96BBF692874}"/>
              </a:ext>
            </a:extLst>
          </p:cNvPr>
          <p:cNvSpPr txBox="1"/>
          <p:nvPr/>
        </p:nvSpPr>
        <p:spPr>
          <a:xfrm>
            <a:off x="4521200" y="1524000"/>
            <a:ext cx="3251200" cy="21800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250" b="1">
                <a:solidFill>
                  <a:srgbClr val="1A844A"/>
                </a:solidFill>
                <a:latin typeface="Segoe UI" panose="020B0502040204020203" pitchFamily="34" charset="0"/>
              </a:rPr>
              <a:t>2. Vehicle &amp; Route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0789AB-69BE-D9E0-1E6D-B6CCF0C07037}"/>
              </a:ext>
            </a:extLst>
          </p:cNvPr>
          <p:cNvSpPr/>
          <p:nvPr/>
        </p:nvSpPr>
        <p:spPr>
          <a:xfrm>
            <a:off x="4521200" y="1854200"/>
            <a:ext cx="508000" cy="38100"/>
          </a:xfrm>
          <a:prstGeom prst="rect">
            <a:avLst/>
          </a:prstGeom>
          <a:solidFill>
            <a:srgbClr val="1A84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BCA4E5-037A-F162-0D43-203335DF3586}"/>
              </a:ext>
            </a:extLst>
          </p:cNvPr>
          <p:cNvSpPr txBox="1"/>
          <p:nvPr/>
        </p:nvSpPr>
        <p:spPr>
          <a:xfrm>
            <a:off x="4521200" y="2006600"/>
            <a:ext cx="3200400" cy="87652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Pick the vehicle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Driver and transporter auto-fill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Pick the route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Freight pre-fills from the route base rate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B1173F-0E4F-EE99-BF7F-E353D7301BCC}"/>
              </a:ext>
            </a:extLst>
          </p:cNvPr>
          <p:cNvSpPr/>
          <p:nvPr/>
        </p:nvSpPr>
        <p:spPr>
          <a:xfrm>
            <a:off x="8128000" y="1371600"/>
            <a:ext cx="3556000" cy="444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4FB0C4-AD25-3336-D2D7-61B7123E3D04}"/>
              </a:ext>
            </a:extLst>
          </p:cNvPr>
          <p:cNvSpPr txBox="1"/>
          <p:nvPr/>
        </p:nvSpPr>
        <p:spPr>
          <a:xfrm>
            <a:off x="8331200" y="1524000"/>
            <a:ext cx="3251200" cy="21800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250" b="1">
                <a:solidFill>
                  <a:srgbClr val="24569E"/>
                </a:solidFill>
                <a:latin typeface="Segoe UI" panose="020B0502040204020203" pitchFamily="34" charset="0"/>
              </a:rPr>
              <a:t>3. Invoice &amp; Goods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B54DB1-9B60-64FE-96C4-8B2A325FA854}"/>
              </a:ext>
            </a:extLst>
          </p:cNvPr>
          <p:cNvSpPr/>
          <p:nvPr/>
        </p:nvSpPr>
        <p:spPr>
          <a:xfrm>
            <a:off x="8331200" y="1854200"/>
            <a:ext cx="508000" cy="38100"/>
          </a:xfrm>
          <a:prstGeom prst="rect">
            <a:avLst/>
          </a:prstGeom>
          <a:solidFill>
            <a:srgbClr val="2456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A504B9-81B7-1A3D-648C-E3C413F6DB78}"/>
              </a:ext>
            </a:extLst>
          </p:cNvPr>
          <p:cNvSpPr txBox="1"/>
          <p:nvPr/>
        </p:nvSpPr>
        <p:spPr>
          <a:xfrm>
            <a:off x="8331200" y="2006600"/>
            <a:ext cx="3200400" cy="87652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Add one or more invoices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List items and package details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Enter weight and value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•  E-Way Bill number if applicable</a:t>
            </a:r>
          </a:p>
        </p:txBody>
      </p:sp>
    </p:spTree>
    <p:extLst>
      <p:ext uri="{BB962C8B-B14F-4D97-AF65-F5344CB8AC3E}">
        <p14:creationId xmlns:p14="http://schemas.microsoft.com/office/powerpoint/2010/main" val="1129619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DA754B-798D-7429-F06B-C5384B7EF509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C8548-D391-1DAF-6143-564FED57FC4C}"/>
              </a:ext>
            </a:extLst>
          </p:cNvPr>
          <p:cNvSpPr txBox="1"/>
          <p:nvPr/>
        </p:nvSpPr>
        <p:spPr>
          <a:xfrm>
            <a:off x="558800" y="190500"/>
            <a:ext cx="9144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Freight &amp; Payment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0D141-6EA4-F636-12F5-1744949B5C3A}"/>
              </a:ext>
            </a:extLst>
          </p:cNvPr>
          <p:cNvSpPr txBox="1"/>
          <p:nvPr/>
        </p:nvSpPr>
        <p:spPr>
          <a:xfrm>
            <a:off x="558800" y="609600"/>
            <a:ext cx="914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E8D8EB"/>
                </a:solidFill>
                <a:latin typeface="Segoe UI" panose="020B0502040204020203" pitchFamily="34" charset="0"/>
              </a:rPr>
              <a:t>Every charge, with Total and Balance worked out for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A5249-79C2-B6EF-A453-192896884BEA}"/>
              </a:ext>
            </a:extLst>
          </p:cNvPr>
          <p:cNvSpPr txBox="1"/>
          <p:nvPr/>
        </p:nvSpPr>
        <p:spPr>
          <a:xfrm>
            <a:off x="558800" y="6527800"/>
            <a:ext cx="5842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fr-FR" sz="900">
                <a:solidFill>
                  <a:srgbClr val="606074"/>
                </a:solidFill>
                <a:latin typeface="Segoe UI" panose="020B0502040204020203" pitchFamily="34" charset="0"/>
              </a:rPr>
              <a:t>Vistar LR Management   ·   User Guide</a:t>
            </a:r>
            <a:endParaRPr lang="en-US" sz="900">
              <a:solidFill>
                <a:srgbClr val="60607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5FEDD0-8F82-F3F8-E4F6-58603A65E358}"/>
              </a:ext>
            </a:extLst>
          </p:cNvPr>
          <p:cNvSpPr txBox="1"/>
          <p:nvPr/>
        </p:nvSpPr>
        <p:spPr>
          <a:xfrm>
            <a:off x="10414000" y="65278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en-US" sz="900">
                <a:solidFill>
                  <a:srgbClr val="606074"/>
                </a:solidFill>
                <a:latin typeface="Segoe UI" panose="020B0502040204020203" pitchFamily="34" charset="0"/>
              </a:rPr>
              <a:t>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8990AE-5D39-7C46-9FC0-59F29A827839}"/>
              </a:ext>
            </a:extLst>
          </p:cNvPr>
          <p:cNvSpPr/>
          <p:nvPr/>
        </p:nvSpPr>
        <p:spPr>
          <a:xfrm>
            <a:off x="508000" y="1371600"/>
            <a:ext cx="5461000" cy="444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ED7426-A945-AF52-0BE5-DF3549D496D8}"/>
              </a:ext>
            </a:extLst>
          </p:cNvPr>
          <p:cNvSpPr txBox="1"/>
          <p:nvPr/>
        </p:nvSpPr>
        <p:spPr>
          <a:xfrm>
            <a:off x="812800" y="1600200"/>
            <a:ext cx="4876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400" b="1">
                <a:solidFill>
                  <a:srgbClr val="6B2B6F"/>
                </a:solidFill>
                <a:latin typeface="Segoe UI" panose="020B0502040204020203" pitchFamily="34" charset="0"/>
              </a:rPr>
              <a:t>Charges you enter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65E44-BF17-7125-F7F3-F2AE9F1D28C5}"/>
              </a:ext>
            </a:extLst>
          </p:cNvPr>
          <p:cNvSpPr/>
          <p:nvPr/>
        </p:nvSpPr>
        <p:spPr>
          <a:xfrm>
            <a:off x="812800" y="1930400"/>
            <a:ext cx="584200" cy="381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2F5FD8-3894-2116-1A74-42C4553D4D6D}"/>
              </a:ext>
            </a:extLst>
          </p:cNvPr>
          <p:cNvSpPr txBox="1"/>
          <p:nvPr/>
        </p:nvSpPr>
        <p:spPr>
          <a:xfrm>
            <a:off x="812800" y="2108200"/>
            <a:ext cx="4876800" cy="13769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Freight (base transporter cost)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Door Delivery, Handling, Insurance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Additional Freight, Halting Charge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Mathadi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00">
                <a:solidFill>
                  <a:srgbClr val="606074"/>
                </a:solidFill>
                <a:latin typeface="Segoe UI" panose="020B0502040204020203" pitchFamily="34" charset="0"/>
              </a:rPr>
              <a:t>•  Advance and Pay Type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7CBCE8-C4EE-400C-B596-144F0D873E4C}"/>
              </a:ext>
            </a:extLst>
          </p:cNvPr>
          <p:cNvSpPr/>
          <p:nvPr/>
        </p:nvSpPr>
        <p:spPr>
          <a:xfrm>
            <a:off x="6223000" y="1371600"/>
            <a:ext cx="5461000" cy="4445000"/>
          </a:xfrm>
          <a:prstGeom prst="roundRect">
            <a:avLst>
              <a:gd name="adj" fmla="val 7000"/>
            </a:avLst>
          </a:prstGeom>
          <a:solidFill>
            <a:srgbClr val="E9F6EE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C30920-2B9C-8CF4-8500-A12AD09FEE4C}"/>
              </a:ext>
            </a:extLst>
          </p:cNvPr>
          <p:cNvSpPr txBox="1"/>
          <p:nvPr/>
        </p:nvSpPr>
        <p:spPr>
          <a:xfrm>
            <a:off x="6527800" y="1600200"/>
            <a:ext cx="4876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400" b="1">
                <a:solidFill>
                  <a:srgbClr val="1A844A"/>
                </a:solidFill>
                <a:latin typeface="Segoe UI" panose="020B0502040204020203" pitchFamily="34" charset="0"/>
              </a:rPr>
              <a:t>Calculated automatically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73CF4-1716-D6D0-CC6F-A6840A538946}"/>
              </a:ext>
            </a:extLst>
          </p:cNvPr>
          <p:cNvSpPr/>
          <p:nvPr/>
        </p:nvSpPr>
        <p:spPr>
          <a:xfrm>
            <a:off x="6527800" y="1930400"/>
            <a:ext cx="584200" cy="38100"/>
          </a:xfrm>
          <a:prstGeom prst="rect">
            <a:avLst/>
          </a:prstGeom>
          <a:solidFill>
            <a:srgbClr val="1A84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BB6DAE-EE8F-2EDE-C533-5274D336CEC7}"/>
              </a:ext>
            </a:extLst>
          </p:cNvPr>
          <p:cNvSpPr txBox="1"/>
          <p:nvPr/>
        </p:nvSpPr>
        <p:spPr>
          <a:xfrm>
            <a:off x="6527800" y="2108200"/>
            <a:ext cx="4876800" cy="82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50">
                <a:solidFill>
                  <a:srgbClr val="606074"/>
                </a:solidFill>
                <a:latin typeface="Segoe UI" panose="020B0502040204020203" pitchFamily="34" charset="0"/>
              </a:rPr>
              <a:t>•  Total = Freight + all charges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50">
                <a:solidFill>
                  <a:srgbClr val="606074"/>
                </a:solidFill>
                <a:latin typeface="Segoe UI" panose="020B0502040204020203" pitchFamily="34" charset="0"/>
              </a:rPr>
              <a:t>•  Balance = Total minus Advance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50">
                <a:solidFill>
                  <a:srgbClr val="606074"/>
                </a:solidFill>
                <a:latin typeface="Segoe UI" panose="020B0502040204020203" pitchFamily="34" charset="0"/>
              </a:rPr>
              <a:t>•  Vistar Margin (auto)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D600E1-B8AD-6100-9197-3A8F68997D75}"/>
              </a:ext>
            </a:extLst>
          </p:cNvPr>
          <p:cNvSpPr txBox="1"/>
          <p:nvPr/>
        </p:nvSpPr>
        <p:spPr>
          <a:xfrm>
            <a:off x="6527800" y="4724400"/>
            <a:ext cx="48768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1A844A"/>
                </a:solidFill>
                <a:latin typeface="Segoe UI" panose="020B0502040204020203" pitchFamily="34" charset="0"/>
              </a:rPr>
              <a:t>Tip: the exact fields you see depend on your permissions - transporter and margin figures are hidden from users who should not see them.</a:t>
            </a:r>
          </a:p>
        </p:txBody>
      </p:sp>
    </p:spTree>
    <p:extLst>
      <p:ext uri="{BB962C8B-B14F-4D97-AF65-F5344CB8AC3E}">
        <p14:creationId xmlns:p14="http://schemas.microsoft.com/office/powerpoint/2010/main" val="972997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D00BC9-B1CE-B10E-4790-1621F59ECCFD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40F32D-0BFD-50DF-CCAD-8FCB06ED0FAE}"/>
              </a:ext>
            </a:extLst>
          </p:cNvPr>
          <p:cNvSpPr txBox="1"/>
          <p:nvPr/>
        </p:nvSpPr>
        <p:spPr>
          <a:xfrm>
            <a:off x="558800" y="190500"/>
            <a:ext cx="9144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Client Incentives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BC3E27-A384-68D9-C2F5-CF985337D128}"/>
              </a:ext>
            </a:extLst>
          </p:cNvPr>
          <p:cNvSpPr txBox="1"/>
          <p:nvPr/>
        </p:nvSpPr>
        <p:spPr>
          <a:xfrm>
            <a:off x="558800" y="609600"/>
            <a:ext cx="914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E8D8EB"/>
                </a:solidFill>
                <a:latin typeface="Segoe UI" panose="020B0502040204020203" pitchFamily="34" charset="0"/>
              </a:rPr>
              <a:t>Express Charges and Extra Point Delivery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10F4C-1276-F2D7-72D1-44E6B7F65C56}"/>
              </a:ext>
            </a:extLst>
          </p:cNvPr>
          <p:cNvSpPr txBox="1"/>
          <p:nvPr/>
        </p:nvSpPr>
        <p:spPr>
          <a:xfrm>
            <a:off x="558800" y="6527800"/>
            <a:ext cx="5842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fr-FR" sz="900">
                <a:solidFill>
                  <a:srgbClr val="606074"/>
                </a:solidFill>
                <a:latin typeface="Segoe UI" panose="020B0502040204020203" pitchFamily="34" charset="0"/>
              </a:rPr>
              <a:t>Vistar LR Management   ·   User Guide</a:t>
            </a:r>
            <a:endParaRPr lang="en-US" sz="900">
              <a:solidFill>
                <a:srgbClr val="60607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34BEA1-7F08-B580-CB08-3715839B1E9A}"/>
              </a:ext>
            </a:extLst>
          </p:cNvPr>
          <p:cNvSpPr txBox="1"/>
          <p:nvPr/>
        </p:nvSpPr>
        <p:spPr>
          <a:xfrm>
            <a:off x="10414000" y="65278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en-US" sz="900">
                <a:solidFill>
                  <a:srgbClr val="606074"/>
                </a:solidFill>
                <a:latin typeface="Segoe UI" panose="020B0502040204020203" pitchFamily="34" charset="0"/>
              </a:rPr>
              <a:t>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FEFF16-618B-513C-8E3A-7E5260680638}"/>
              </a:ext>
            </a:extLst>
          </p:cNvPr>
          <p:cNvSpPr txBox="1"/>
          <p:nvPr/>
        </p:nvSpPr>
        <p:spPr>
          <a:xfrm>
            <a:off x="508000" y="1270000"/>
            <a:ext cx="11176000" cy="4103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250">
                <a:solidFill>
                  <a:srgbClr val="21212D"/>
                </a:solidFill>
                <a:latin typeface="Segoe UI" panose="020B0502040204020203" pitchFamily="34" charset="0"/>
              </a:rPr>
              <a:t>Sometimes a client pays a little extra for great, on-time service. Record it here and split it between the driver and Vistar - the split is not fixed, you decide it per LR.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EAEC35-6504-A800-7E0D-B672DFEB50AE}"/>
              </a:ext>
            </a:extLst>
          </p:cNvPr>
          <p:cNvSpPr/>
          <p:nvPr/>
        </p:nvSpPr>
        <p:spPr>
          <a:xfrm>
            <a:off x="508000" y="2032000"/>
            <a:ext cx="5461000" cy="3175000"/>
          </a:xfrm>
          <a:prstGeom prst="roundRect">
            <a:avLst>
              <a:gd name="adj" fmla="val 7000"/>
            </a:avLst>
          </a:prstGeom>
          <a:solidFill>
            <a:srgbClr val="FFF6E7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619B51-6A5E-72AD-96B0-861F01F319D2}"/>
              </a:ext>
            </a:extLst>
          </p:cNvPr>
          <p:cNvSpPr txBox="1"/>
          <p:nvPr/>
        </p:nvSpPr>
        <p:spPr>
          <a:xfrm>
            <a:off x="812800" y="2260600"/>
            <a:ext cx="4876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400" b="1">
                <a:solidFill>
                  <a:srgbClr val="96600C"/>
                </a:solidFill>
                <a:latin typeface="Segoe UI" panose="020B0502040204020203" pitchFamily="34" charset="0"/>
              </a:rPr>
              <a:t>Worked example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60AD51-A111-8802-1217-41136006B732}"/>
              </a:ext>
            </a:extLst>
          </p:cNvPr>
          <p:cNvSpPr/>
          <p:nvPr/>
        </p:nvSpPr>
        <p:spPr>
          <a:xfrm>
            <a:off x="812800" y="2603500"/>
            <a:ext cx="584200" cy="38100"/>
          </a:xfrm>
          <a:prstGeom prst="rect">
            <a:avLst/>
          </a:prstGeom>
          <a:solidFill>
            <a:srgbClr val="9660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534B61-805E-AFA9-68AA-E6EA5CDB7821}"/>
              </a:ext>
            </a:extLst>
          </p:cNvPr>
          <p:cNvSpPr txBox="1"/>
          <p:nvPr/>
        </p:nvSpPr>
        <p:spPr>
          <a:xfrm>
            <a:off x="812800" y="2997200"/>
            <a:ext cx="4876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500" b="1">
                <a:solidFill>
                  <a:srgbClr val="21212D"/>
                </a:solidFill>
                <a:latin typeface="Segoe UI" panose="020B0502040204020203" pitchFamily="34" charset="0"/>
              </a:rPr>
              <a:t>Client pays (Express):     ₹5,000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ECE31D-94C4-D243-9F01-DAB578FFEBFE}"/>
              </a:ext>
            </a:extLst>
          </p:cNvPr>
          <p:cNvSpPr txBox="1"/>
          <p:nvPr/>
        </p:nvSpPr>
        <p:spPr>
          <a:xfrm>
            <a:off x="812800" y="3556000"/>
            <a:ext cx="4876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500">
                <a:solidFill>
                  <a:srgbClr val="1A844A"/>
                </a:solidFill>
                <a:latin typeface="Segoe UI" panose="020B0502040204020203" pitchFamily="34" charset="0"/>
              </a:rPr>
              <a:t>Driver's share:     ₹3,000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8D9202-C428-3DA4-30AB-2E100CFB95BD}"/>
              </a:ext>
            </a:extLst>
          </p:cNvPr>
          <p:cNvSpPr txBox="1"/>
          <p:nvPr/>
        </p:nvSpPr>
        <p:spPr>
          <a:xfrm>
            <a:off x="812800" y="4114800"/>
            <a:ext cx="4876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500">
                <a:solidFill>
                  <a:srgbClr val="21212D"/>
                </a:solidFill>
                <a:latin typeface="Segoe UI" panose="020B0502040204020203" pitchFamily="34" charset="0"/>
              </a:rPr>
              <a:t>Vistar margin:     ₹2,000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7E1EEB3-7E7E-B5C5-AF69-9CD08CC84FB5}"/>
              </a:ext>
            </a:extLst>
          </p:cNvPr>
          <p:cNvSpPr/>
          <p:nvPr/>
        </p:nvSpPr>
        <p:spPr>
          <a:xfrm>
            <a:off x="6223000" y="2032000"/>
            <a:ext cx="5461000" cy="317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AD72E4-8006-1834-462F-94AA0B7DA887}"/>
              </a:ext>
            </a:extLst>
          </p:cNvPr>
          <p:cNvSpPr txBox="1"/>
          <p:nvPr/>
        </p:nvSpPr>
        <p:spPr>
          <a:xfrm>
            <a:off x="6527800" y="2260600"/>
            <a:ext cx="4876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400" b="1">
                <a:solidFill>
                  <a:srgbClr val="6B2B6F"/>
                </a:solidFill>
                <a:latin typeface="Segoe UI" panose="020B0502040204020203" pitchFamily="34" charset="0"/>
              </a:rPr>
              <a:t>Key points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0824B3-E954-AF20-AC10-21CA777A30D6}"/>
              </a:ext>
            </a:extLst>
          </p:cNvPr>
          <p:cNvSpPr/>
          <p:nvPr/>
        </p:nvSpPr>
        <p:spPr>
          <a:xfrm>
            <a:off x="6527800" y="2603500"/>
            <a:ext cx="584200" cy="381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AFFB0F-3587-165F-CC9E-9866566BC987}"/>
              </a:ext>
            </a:extLst>
          </p:cNvPr>
          <p:cNvSpPr txBox="1"/>
          <p:nvPr/>
        </p:nvSpPr>
        <p:spPr>
          <a:xfrm>
            <a:off x="6527800" y="2794000"/>
            <a:ext cx="4876800" cy="125662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150">
                <a:solidFill>
                  <a:srgbClr val="606074"/>
                </a:solidFill>
                <a:latin typeface="Segoe UI" panose="020B0502040204020203" pitchFamily="34" charset="0"/>
              </a:rPr>
              <a:t>•  Enter the client amount and the driver's share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150">
                <a:solidFill>
                  <a:srgbClr val="606074"/>
                </a:solidFill>
                <a:latin typeface="Segoe UI" panose="020B0502040204020203" pitchFamily="34" charset="0"/>
              </a:rPr>
              <a:t>•  Vistar margin is worked out automatically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150">
                <a:solidFill>
                  <a:srgbClr val="606074"/>
                </a:solidFill>
                <a:latin typeface="Segoe UI" panose="020B0502040204020203" pitchFamily="34" charset="0"/>
              </a:rPr>
              <a:t>•  The driver's share is paid WITH the balance (after POD) - never with the advance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150">
                <a:solidFill>
                  <a:srgbClr val="606074"/>
                </a:solidFill>
                <a:latin typeface="Segoe UI" panose="020B0502040204020203" pitchFamily="34" charset="0"/>
              </a:rPr>
              <a:t>•  Accounts and the payment email show the full split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691AE1-D136-3AE2-12DD-2F4D5B66D10C}"/>
              </a:ext>
            </a:extLst>
          </p:cNvPr>
          <p:cNvSpPr txBox="1"/>
          <p:nvPr/>
        </p:nvSpPr>
        <p:spPr>
          <a:xfrm>
            <a:off x="508000" y="5384800"/>
            <a:ext cx="11176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074"/>
                </a:solidFill>
                <a:latin typeface="Segoe UI" panose="020B0502040204020203" pitchFamily="34" charset="0"/>
              </a:rPr>
              <a:t>Two heads are supported: Express Charges and Extra Point Delivery. Each is split the same way.</a:t>
            </a:r>
          </a:p>
        </p:txBody>
      </p:sp>
    </p:spTree>
    <p:extLst>
      <p:ext uri="{BB962C8B-B14F-4D97-AF65-F5344CB8AC3E}">
        <p14:creationId xmlns:p14="http://schemas.microsoft.com/office/powerpoint/2010/main" val="1058610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E9F71A-63BF-1401-BEDE-CD090BA7A810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AC1C55-F7FB-5481-C24F-9B46FF4307A3}"/>
              </a:ext>
            </a:extLst>
          </p:cNvPr>
          <p:cNvSpPr txBox="1"/>
          <p:nvPr/>
        </p:nvSpPr>
        <p:spPr>
          <a:xfrm>
            <a:off x="558800" y="190500"/>
            <a:ext cx="9144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Find any LR in seconds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8A4B0-955B-AFAA-BD79-917DE341C215}"/>
              </a:ext>
            </a:extLst>
          </p:cNvPr>
          <p:cNvSpPr txBox="1"/>
          <p:nvPr/>
        </p:nvSpPr>
        <p:spPr>
          <a:xfrm>
            <a:off x="558800" y="609600"/>
            <a:ext cx="914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E8D8EB"/>
                </a:solidFill>
                <a:latin typeface="Segoe UI" panose="020B0502040204020203" pitchFamily="34" charset="0"/>
              </a:rPr>
              <a:t>Search and filters, all on one row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310AB-8A19-3508-81EB-0657BDF8FB8C}"/>
              </a:ext>
            </a:extLst>
          </p:cNvPr>
          <p:cNvSpPr txBox="1"/>
          <p:nvPr/>
        </p:nvSpPr>
        <p:spPr>
          <a:xfrm>
            <a:off x="558800" y="6527800"/>
            <a:ext cx="5842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fr-FR" sz="900">
                <a:solidFill>
                  <a:srgbClr val="606074"/>
                </a:solidFill>
                <a:latin typeface="Segoe UI" panose="020B0502040204020203" pitchFamily="34" charset="0"/>
              </a:rPr>
              <a:t>Vistar LR Management   ·   User Guide</a:t>
            </a:r>
            <a:endParaRPr lang="en-US" sz="900">
              <a:solidFill>
                <a:srgbClr val="60607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27C370-7A55-56DB-D16A-EC08255045F4}"/>
              </a:ext>
            </a:extLst>
          </p:cNvPr>
          <p:cNvSpPr txBox="1"/>
          <p:nvPr/>
        </p:nvSpPr>
        <p:spPr>
          <a:xfrm>
            <a:off x="10414000" y="65278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en-US" sz="900">
                <a:solidFill>
                  <a:srgbClr val="606074"/>
                </a:solidFill>
                <a:latin typeface="Segoe UI" panose="020B0502040204020203" pitchFamily="34" charset="0"/>
              </a:rPr>
              <a:t>12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55C23E-13D7-09A9-E287-60F4A16A76FB}"/>
              </a:ext>
            </a:extLst>
          </p:cNvPr>
          <p:cNvSpPr/>
          <p:nvPr/>
        </p:nvSpPr>
        <p:spPr>
          <a:xfrm>
            <a:off x="508000" y="1524000"/>
            <a:ext cx="21844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E59D05-3D85-3573-7813-FC29E44B2162}"/>
              </a:ext>
            </a:extLst>
          </p:cNvPr>
          <p:cNvSpPr/>
          <p:nvPr/>
        </p:nvSpPr>
        <p:spPr>
          <a:xfrm>
            <a:off x="711200" y="1727200"/>
            <a:ext cx="558800" cy="558800"/>
          </a:xfrm>
          <a:prstGeom prst="roundRect">
            <a:avLst>
              <a:gd name="adj" fmla="val 7000"/>
            </a:avLst>
          </a:prstGeom>
          <a:solidFill>
            <a:srgbClr val="F0E7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B4AF9A-020A-9AD7-B0F5-DFB396785DBF}"/>
              </a:ext>
            </a:extLst>
          </p:cNvPr>
          <p:cNvSpPr txBox="1"/>
          <p:nvPr/>
        </p:nvSpPr>
        <p:spPr>
          <a:xfrm>
            <a:off x="711200" y="1803400"/>
            <a:ext cx="5588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2200">
                <a:solidFill>
                  <a:srgbClr val="6B2B6F"/>
                </a:solidFill>
                <a:latin typeface="Segoe UI" panose="020B0502040204020203" pitchFamily="34" charset="0"/>
              </a:rPr>
              <a:t>🔎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3E8486-0BD4-A08C-7C0B-DFE9D40056BE}"/>
              </a:ext>
            </a:extLst>
          </p:cNvPr>
          <p:cNvSpPr txBox="1"/>
          <p:nvPr/>
        </p:nvSpPr>
        <p:spPr>
          <a:xfrm>
            <a:off x="1422400" y="1778000"/>
            <a:ext cx="11176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Search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3F5F82-67BF-1690-EF95-4C7AE715B78F}"/>
              </a:ext>
            </a:extLst>
          </p:cNvPr>
          <p:cNvSpPr txBox="1"/>
          <p:nvPr/>
        </p:nvSpPr>
        <p:spPr>
          <a:xfrm>
            <a:off x="711200" y="2413000"/>
            <a:ext cx="17780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By LR number, party, vehicle or e-way bill.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D0BB029-677A-2B1A-DDA1-0BD6CCC2BAD4}"/>
              </a:ext>
            </a:extLst>
          </p:cNvPr>
          <p:cNvSpPr/>
          <p:nvPr/>
        </p:nvSpPr>
        <p:spPr>
          <a:xfrm>
            <a:off x="2844800" y="1524000"/>
            <a:ext cx="21844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19D4452-2985-3F46-4F22-85D1BB3F5851}"/>
              </a:ext>
            </a:extLst>
          </p:cNvPr>
          <p:cNvSpPr/>
          <p:nvPr/>
        </p:nvSpPr>
        <p:spPr>
          <a:xfrm>
            <a:off x="3048000" y="1727200"/>
            <a:ext cx="558800" cy="558800"/>
          </a:xfrm>
          <a:prstGeom prst="roundRect">
            <a:avLst>
              <a:gd name="adj" fmla="val 7000"/>
            </a:avLst>
          </a:prstGeom>
          <a:solidFill>
            <a:srgbClr val="E9F0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2E6B53-451A-759C-A865-D03B61E72327}"/>
              </a:ext>
            </a:extLst>
          </p:cNvPr>
          <p:cNvSpPr txBox="1"/>
          <p:nvPr/>
        </p:nvSpPr>
        <p:spPr>
          <a:xfrm>
            <a:off x="3048000" y="1803400"/>
            <a:ext cx="5588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2200">
                <a:solidFill>
                  <a:srgbClr val="24569E"/>
                </a:solidFill>
                <a:latin typeface="Segoe UI" panose="020B0502040204020203" pitchFamily="34" charset="0"/>
              </a:rPr>
              <a:t>🏷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777AF2-8730-9B1C-2A6A-F3AA75ACE1EC}"/>
              </a:ext>
            </a:extLst>
          </p:cNvPr>
          <p:cNvSpPr txBox="1"/>
          <p:nvPr/>
        </p:nvSpPr>
        <p:spPr>
          <a:xfrm>
            <a:off x="3759200" y="1778000"/>
            <a:ext cx="11176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Status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239E95-609D-84FB-4819-20BC018C7559}"/>
              </a:ext>
            </a:extLst>
          </p:cNvPr>
          <p:cNvSpPr txBox="1"/>
          <p:nvPr/>
        </p:nvSpPr>
        <p:spPr>
          <a:xfrm>
            <a:off x="3048000" y="2413000"/>
            <a:ext cx="17780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Filter by the LR lifecycle stage.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8C99AE2-A912-80A9-C97C-38BAD0643EE8}"/>
              </a:ext>
            </a:extLst>
          </p:cNvPr>
          <p:cNvSpPr/>
          <p:nvPr/>
        </p:nvSpPr>
        <p:spPr>
          <a:xfrm>
            <a:off x="5181600" y="1524000"/>
            <a:ext cx="21844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880AEFC-42EB-0EDA-8CC5-941F737B9A23}"/>
              </a:ext>
            </a:extLst>
          </p:cNvPr>
          <p:cNvSpPr/>
          <p:nvPr/>
        </p:nvSpPr>
        <p:spPr>
          <a:xfrm>
            <a:off x="5384800" y="1727200"/>
            <a:ext cx="558800" cy="558800"/>
          </a:xfrm>
          <a:prstGeom prst="roundRect">
            <a:avLst>
              <a:gd name="adj" fmla="val 7000"/>
            </a:avLst>
          </a:prstGeom>
          <a:solidFill>
            <a:srgbClr val="E9F6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91AB09-4F61-5482-3BDC-C0C658B2DC8F}"/>
              </a:ext>
            </a:extLst>
          </p:cNvPr>
          <p:cNvSpPr txBox="1"/>
          <p:nvPr/>
        </p:nvSpPr>
        <p:spPr>
          <a:xfrm>
            <a:off x="5384800" y="1803400"/>
            <a:ext cx="5588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2200">
                <a:solidFill>
                  <a:srgbClr val="1A844A"/>
                </a:solidFill>
                <a:latin typeface="Segoe UI" panose="020B0502040204020203" pitchFamily="34" charset="0"/>
              </a:rPr>
              <a:t>🛣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7B29AA-1757-2293-B642-D8BC52210B27}"/>
              </a:ext>
            </a:extLst>
          </p:cNvPr>
          <p:cNvSpPr txBox="1"/>
          <p:nvPr/>
        </p:nvSpPr>
        <p:spPr>
          <a:xfrm>
            <a:off x="6096000" y="1778000"/>
            <a:ext cx="11176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Route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36C589-8173-9537-03F5-37DECE0CD4B1}"/>
              </a:ext>
            </a:extLst>
          </p:cNvPr>
          <p:cNvSpPr txBox="1"/>
          <p:nvPr/>
        </p:nvSpPr>
        <p:spPr>
          <a:xfrm>
            <a:off x="5384800" y="2413000"/>
            <a:ext cx="1778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Show only a chosen route.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EE5789-451F-F7EB-5AE4-D5FA641E59A3}"/>
              </a:ext>
            </a:extLst>
          </p:cNvPr>
          <p:cNvSpPr/>
          <p:nvPr/>
        </p:nvSpPr>
        <p:spPr>
          <a:xfrm>
            <a:off x="7518400" y="1524000"/>
            <a:ext cx="21844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4EF71AC-1D57-9571-9D46-24014E6FFC03}"/>
              </a:ext>
            </a:extLst>
          </p:cNvPr>
          <p:cNvSpPr/>
          <p:nvPr/>
        </p:nvSpPr>
        <p:spPr>
          <a:xfrm>
            <a:off x="7721600" y="1727200"/>
            <a:ext cx="558800" cy="558800"/>
          </a:xfrm>
          <a:prstGeom prst="roundRect">
            <a:avLst>
              <a:gd name="adj" fmla="val 7000"/>
            </a:avLst>
          </a:prstGeom>
          <a:solidFill>
            <a:srgbClr val="FFF6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BD40C9-5AB3-9982-EFA8-65FD67D18604}"/>
              </a:ext>
            </a:extLst>
          </p:cNvPr>
          <p:cNvSpPr txBox="1"/>
          <p:nvPr/>
        </p:nvSpPr>
        <p:spPr>
          <a:xfrm>
            <a:off x="7721600" y="1803400"/>
            <a:ext cx="5588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2200">
                <a:solidFill>
                  <a:srgbClr val="96600C"/>
                </a:solidFill>
                <a:latin typeface="Segoe UI" panose="020B0502040204020203" pitchFamily="34" charset="0"/>
              </a:rPr>
              <a:t>🌍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7370A0-472A-22C2-A982-86B46EEC0A38}"/>
              </a:ext>
            </a:extLst>
          </p:cNvPr>
          <p:cNvSpPr txBox="1"/>
          <p:nvPr/>
        </p:nvSpPr>
        <p:spPr>
          <a:xfrm>
            <a:off x="8432800" y="1778000"/>
            <a:ext cx="11176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Region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63ACFC-C743-6B16-2270-64FBBEBE785A}"/>
              </a:ext>
            </a:extLst>
          </p:cNvPr>
          <p:cNvSpPr txBox="1"/>
          <p:nvPr/>
        </p:nvSpPr>
        <p:spPr>
          <a:xfrm>
            <a:off x="7721600" y="2413000"/>
            <a:ext cx="1778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Narrow to a region.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942573-9D21-4B2C-8C37-85CE9021C175}"/>
              </a:ext>
            </a:extLst>
          </p:cNvPr>
          <p:cNvSpPr/>
          <p:nvPr/>
        </p:nvSpPr>
        <p:spPr>
          <a:xfrm>
            <a:off x="9855200" y="1524000"/>
            <a:ext cx="21844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518C047-EE48-97FF-E3F7-31DF52072945}"/>
              </a:ext>
            </a:extLst>
          </p:cNvPr>
          <p:cNvSpPr/>
          <p:nvPr/>
        </p:nvSpPr>
        <p:spPr>
          <a:xfrm>
            <a:off x="10058400" y="1727200"/>
            <a:ext cx="558800" cy="558800"/>
          </a:xfrm>
          <a:prstGeom prst="roundRect">
            <a:avLst>
              <a:gd name="adj" fmla="val 7000"/>
            </a:avLst>
          </a:prstGeom>
          <a:solidFill>
            <a:srgbClr val="F0E7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72B6-54B4-201C-0FA0-927FB777D2D9}"/>
              </a:ext>
            </a:extLst>
          </p:cNvPr>
          <p:cNvSpPr txBox="1"/>
          <p:nvPr/>
        </p:nvSpPr>
        <p:spPr>
          <a:xfrm>
            <a:off x="10058400" y="1803400"/>
            <a:ext cx="5588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2200">
                <a:solidFill>
                  <a:srgbClr val="6B2B6F"/>
                </a:solidFill>
                <a:latin typeface="Segoe UI" panose="020B0502040204020203" pitchFamily="34" charset="0"/>
              </a:rPr>
              <a:t>📅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AB35B9-4CFF-9F09-F84F-BCDCDE33113B}"/>
              </a:ext>
            </a:extLst>
          </p:cNvPr>
          <p:cNvSpPr txBox="1"/>
          <p:nvPr/>
        </p:nvSpPr>
        <p:spPr>
          <a:xfrm>
            <a:off x="10769600" y="1778000"/>
            <a:ext cx="11176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Date Range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8CB004-AE86-79C3-C974-0B719208CAD0}"/>
              </a:ext>
            </a:extLst>
          </p:cNvPr>
          <p:cNvSpPr txBox="1"/>
          <p:nvPr/>
        </p:nvSpPr>
        <p:spPr>
          <a:xfrm>
            <a:off x="10058400" y="2413000"/>
            <a:ext cx="1778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Pick a from - to window.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437D067-614E-13C1-C480-18EDA8827745}"/>
              </a:ext>
            </a:extLst>
          </p:cNvPr>
          <p:cNvSpPr/>
          <p:nvPr/>
        </p:nvSpPr>
        <p:spPr>
          <a:xfrm>
            <a:off x="508000" y="3810000"/>
            <a:ext cx="11176000" cy="1016000"/>
          </a:xfrm>
          <a:prstGeom prst="roundRect">
            <a:avLst>
              <a:gd name="adj" fmla="val 7000"/>
            </a:avLst>
          </a:prstGeom>
          <a:solidFill>
            <a:srgbClr val="E9F0FA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B7EDC6-A1E3-84AC-4204-C5C2AB25E2B8}"/>
              </a:ext>
            </a:extLst>
          </p:cNvPr>
          <p:cNvSpPr txBox="1"/>
          <p:nvPr/>
        </p:nvSpPr>
        <p:spPr>
          <a:xfrm>
            <a:off x="812800" y="4089400"/>
            <a:ext cx="105664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24569E"/>
                </a:solidFill>
                <a:latin typeface="Segoe UI" panose="020B0502040204020203" pitchFamily="34" charset="0"/>
              </a:rPr>
              <a:t>Combine any of these together - the record count at the top updates live as you filter, so you always know how many LRs match.</a:t>
            </a:r>
          </a:p>
        </p:txBody>
      </p:sp>
    </p:spTree>
    <p:extLst>
      <p:ext uri="{BB962C8B-B14F-4D97-AF65-F5344CB8AC3E}">
        <p14:creationId xmlns:p14="http://schemas.microsoft.com/office/powerpoint/2010/main" val="1167055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60EAA4-03CE-F30F-5273-A1329DC94214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97271-817C-B4F0-9FDD-24223B0A9AB3}"/>
              </a:ext>
            </a:extLst>
          </p:cNvPr>
          <p:cNvSpPr txBox="1"/>
          <p:nvPr/>
        </p:nvSpPr>
        <p:spPr>
          <a:xfrm>
            <a:off x="558800" y="190500"/>
            <a:ext cx="9144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Print an LR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41C96A-6306-6F0A-C751-D250F390EF0F}"/>
              </a:ext>
            </a:extLst>
          </p:cNvPr>
          <p:cNvSpPr txBox="1"/>
          <p:nvPr/>
        </p:nvSpPr>
        <p:spPr>
          <a:xfrm>
            <a:off x="558800" y="609600"/>
            <a:ext cx="914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E8D8EB"/>
                </a:solidFill>
                <a:latin typeface="Segoe UI" panose="020B0502040204020203" pitchFamily="34" charset="0"/>
              </a:rPr>
              <a:t>A clean consignment note, ready to hand over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4F6292-9C47-B5F0-521C-9E1EF467ECA0}"/>
              </a:ext>
            </a:extLst>
          </p:cNvPr>
          <p:cNvSpPr txBox="1"/>
          <p:nvPr/>
        </p:nvSpPr>
        <p:spPr>
          <a:xfrm>
            <a:off x="558800" y="6527800"/>
            <a:ext cx="5842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fr-FR" sz="900">
                <a:solidFill>
                  <a:srgbClr val="606074"/>
                </a:solidFill>
                <a:latin typeface="Segoe UI" panose="020B0502040204020203" pitchFamily="34" charset="0"/>
              </a:rPr>
              <a:t>Vistar LR Management   ·   User Guide</a:t>
            </a:r>
            <a:endParaRPr lang="en-US" sz="900">
              <a:solidFill>
                <a:srgbClr val="60607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83A31-5B26-5BF1-D51B-A7790D99BAB9}"/>
              </a:ext>
            </a:extLst>
          </p:cNvPr>
          <p:cNvSpPr txBox="1"/>
          <p:nvPr/>
        </p:nvSpPr>
        <p:spPr>
          <a:xfrm>
            <a:off x="10414000" y="65278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en-US" sz="900">
                <a:solidFill>
                  <a:srgbClr val="606074"/>
                </a:solidFill>
                <a:latin typeface="Segoe UI" panose="020B0502040204020203" pitchFamily="34" charset="0"/>
              </a:rPr>
              <a:t>13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90C2D3-4A9C-FDEC-0003-4F41FEA01544}"/>
              </a:ext>
            </a:extLst>
          </p:cNvPr>
          <p:cNvSpPr/>
          <p:nvPr/>
        </p:nvSpPr>
        <p:spPr>
          <a:xfrm>
            <a:off x="762000" y="1651000"/>
            <a:ext cx="1524000" cy="1524000"/>
          </a:xfrm>
          <a:prstGeom prst="roundRect">
            <a:avLst>
              <a:gd name="adj" fmla="val 7000"/>
            </a:avLst>
          </a:prstGeom>
          <a:solidFill>
            <a:srgbClr val="E9F0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B86720-3BE9-0666-8D14-EB66F87105B4}"/>
              </a:ext>
            </a:extLst>
          </p:cNvPr>
          <p:cNvSpPr txBox="1"/>
          <p:nvPr/>
        </p:nvSpPr>
        <p:spPr>
          <a:xfrm>
            <a:off x="762000" y="1866900"/>
            <a:ext cx="1524000" cy="94897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6000">
                <a:solidFill>
                  <a:srgbClr val="24569E"/>
                </a:solidFill>
                <a:latin typeface="Segoe UI" panose="020B0502040204020203" pitchFamily="34" charset="0"/>
              </a:rPr>
              <a:t>🖨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91A1A8-B29E-2CE3-A3D0-47817C97713F}"/>
              </a:ext>
            </a:extLst>
          </p:cNvPr>
          <p:cNvSpPr/>
          <p:nvPr/>
        </p:nvSpPr>
        <p:spPr>
          <a:xfrm>
            <a:off x="3048000" y="1498600"/>
            <a:ext cx="431800" cy="431800"/>
          </a:xfrm>
          <a:prstGeom prst="ellipse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36F62-49E9-1ED3-7121-EFB0D860A9F1}"/>
              </a:ext>
            </a:extLst>
          </p:cNvPr>
          <p:cNvSpPr txBox="1"/>
          <p:nvPr/>
        </p:nvSpPr>
        <p:spPr>
          <a:xfrm>
            <a:off x="3048000" y="1549400"/>
            <a:ext cx="431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8F5FBA-4DF8-4ED7-95D9-3BF1131615DE}"/>
              </a:ext>
            </a:extLst>
          </p:cNvPr>
          <p:cNvSpPr txBox="1"/>
          <p:nvPr/>
        </p:nvSpPr>
        <p:spPr>
          <a:xfrm>
            <a:off x="3632200" y="1485900"/>
            <a:ext cx="7797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Open the LR, or use the printer icon in the list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658D21-B645-E0A4-F628-A9D4E04048AF}"/>
              </a:ext>
            </a:extLst>
          </p:cNvPr>
          <p:cNvSpPr txBox="1"/>
          <p:nvPr/>
        </p:nvSpPr>
        <p:spPr>
          <a:xfrm>
            <a:off x="3632200" y="1778000"/>
            <a:ext cx="7797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The printer icon sits next to each LR in the Lorry Receipts list.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352B1F3-61ED-D02E-563E-47697AE1E7EB}"/>
              </a:ext>
            </a:extLst>
          </p:cNvPr>
          <p:cNvSpPr/>
          <p:nvPr/>
        </p:nvSpPr>
        <p:spPr>
          <a:xfrm>
            <a:off x="3048000" y="2489200"/>
            <a:ext cx="431800" cy="431800"/>
          </a:xfrm>
          <a:prstGeom prst="ellipse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A58F35-433F-7EB9-54D2-100F25750CE9}"/>
              </a:ext>
            </a:extLst>
          </p:cNvPr>
          <p:cNvSpPr txBox="1"/>
          <p:nvPr/>
        </p:nvSpPr>
        <p:spPr>
          <a:xfrm>
            <a:off x="3048000" y="2540000"/>
            <a:ext cx="431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5C1420-D47B-B2BD-D936-5D4E0BFD2612}"/>
              </a:ext>
            </a:extLst>
          </p:cNvPr>
          <p:cNvSpPr txBox="1"/>
          <p:nvPr/>
        </p:nvSpPr>
        <p:spPr>
          <a:xfrm>
            <a:off x="3632200" y="2476500"/>
            <a:ext cx="7797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The print view opens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1273EF-0455-ABEC-5FB7-4EAC8B2E2114}"/>
              </a:ext>
            </a:extLst>
          </p:cNvPr>
          <p:cNvSpPr txBox="1"/>
          <p:nvPr/>
        </p:nvSpPr>
        <p:spPr>
          <a:xfrm>
            <a:off x="3632200" y="2768600"/>
            <a:ext cx="7797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A tidy, formatted copy of the consignment note.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E9F5A6-BA01-3FEB-1096-5694C67F4718}"/>
              </a:ext>
            </a:extLst>
          </p:cNvPr>
          <p:cNvSpPr/>
          <p:nvPr/>
        </p:nvSpPr>
        <p:spPr>
          <a:xfrm>
            <a:off x="3048000" y="3479800"/>
            <a:ext cx="431800" cy="431800"/>
          </a:xfrm>
          <a:prstGeom prst="ellipse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40D947-4D0C-7CC4-6311-BD36B94F1D20}"/>
              </a:ext>
            </a:extLst>
          </p:cNvPr>
          <p:cNvSpPr txBox="1"/>
          <p:nvPr/>
        </p:nvSpPr>
        <p:spPr>
          <a:xfrm>
            <a:off x="3048000" y="3530600"/>
            <a:ext cx="431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E6D192-240B-ACC5-D226-947CA76E448E}"/>
              </a:ext>
            </a:extLst>
          </p:cNvPr>
          <p:cNvSpPr txBox="1"/>
          <p:nvPr/>
        </p:nvSpPr>
        <p:spPr>
          <a:xfrm>
            <a:off x="3632200" y="3467100"/>
            <a:ext cx="7797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Print, or save as PDF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6677E7-E44D-BBC4-F40A-6D9DAAEEBFA5}"/>
              </a:ext>
            </a:extLst>
          </p:cNvPr>
          <p:cNvSpPr txBox="1"/>
          <p:nvPr/>
        </p:nvSpPr>
        <p:spPr>
          <a:xfrm>
            <a:off x="3632200" y="3759200"/>
            <a:ext cx="7797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Use your browser's print dialog to print or save a PDF.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483AE22-671E-F635-288D-3226CCC81777}"/>
              </a:ext>
            </a:extLst>
          </p:cNvPr>
          <p:cNvSpPr/>
          <p:nvPr/>
        </p:nvSpPr>
        <p:spPr>
          <a:xfrm>
            <a:off x="3048000" y="4521200"/>
            <a:ext cx="8382000" cy="889000"/>
          </a:xfrm>
          <a:prstGeom prst="roundRect">
            <a:avLst>
              <a:gd name="adj" fmla="val 7000"/>
            </a:avLst>
          </a:prstGeom>
          <a:solidFill>
            <a:srgbClr val="E9F6EE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51587E-BC20-634F-0DAE-5D1C9BE3EA65}"/>
              </a:ext>
            </a:extLst>
          </p:cNvPr>
          <p:cNvSpPr txBox="1"/>
          <p:nvPr/>
        </p:nvSpPr>
        <p:spPr>
          <a:xfrm>
            <a:off x="3327400" y="4724400"/>
            <a:ext cx="78232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50">
                <a:solidFill>
                  <a:srgbClr val="1A844A"/>
                </a:solidFill>
                <a:latin typeface="Segoe UI" panose="020B0502040204020203" pitchFamily="34" charset="0"/>
              </a:rPr>
              <a:t>Good to know: Print is available as soon as the LR is saved - no need to wait for any approval step.</a:t>
            </a:r>
          </a:p>
        </p:txBody>
      </p:sp>
    </p:spTree>
    <p:extLst>
      <p:ext uri="{BB962C8B-B14F-4D97-AF65-F5344CB8AC3E}">
        <p14:creationId xmlns:p14="http://schemas.microsoft.com/office/powerpoint/2010/main" val="3694694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0931B9-9C7A-B7DD-91C8-6F6EE65C03E2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8DF31-5D1D-C6B0-D7E9-8D1897206008}"/>
              </a:ext>
            </a:extLst>
          </p:cNvPr>
          <p:cNvSpPr txBox="1"/>
          <p:nvPr/>
        </p:nvSpPr>
        <p:spPr>
          <a:xfrm>
            <a:off x="558800" y="190500"/>
            <a:ext cx="9144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Payments &amp; Accounts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E00B80-3DFD-D9C5-B78D-472102929455}"/>
              </a:ext>
            </a:extLst>
          </p:cNvPr>
          <p:cNvSpPr txBox="1"/>
          <p:nvPr/>
        </p:nvSpPr>
        <p:spPr>
          <a:xfrm>
            <a:off x="558800" y="609600"/>
            <a:ext cx="914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E8D8EB"/>
                </a:solidFill>
                <a:latin typeface="Segoe UI" panose="020B0502040204020203" pitchFamily="34" charset="0"/>
              </a:rPr>
              <a:t>The 90 / 10 advance and balance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359F78-8E5B-88BA-1E0F-6D1F2FA6F715}"/>
              </a:ext>
            </a:extLst>
          </p:cNvPr>
          <p:cNvSpPr txBox="1"/>
          <p:nvPr/>
        </p:nvSpPr>
        <p:spPr>
          <a:xfrm>
            <a:off x="558800" y="6527800"/>
            <a:ext cx="5842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fr-FR" sz="900">
                <a:solidFill>
                  <a:srgbClr val="606074"/>
                </a:solidFill>
                <a:latin typeface="Segoe UI" panose="020B0502040204020203" pitchFamily="34" charset="0"/>
              </a:rPr>
              <a:t>Vistar LR Management   ·   User Guide</a:t>
            </a:r>
            <a:endParaRPr lang="en-US" sz="900">
              <a:solidFill>
                <a:srgbClr val="60607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B24E8D-F9FB-C9BA-D9D0-261C5154A119}"/>
              </a:ext>
            </a:extLst>
          </p:cNvPr>
          <p:cNvSpPr txBox="1"/>
          <p:nvPr/>
        </p:nvSpPr>
        <p:spPr>
          <a:xfrm>
            <a:off x="10414000" y="65278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en-US" sz="900">
                <a:solidFill>
                  <a:srgbClr val="606074"/>
                </a:solidFill>
                <a:latin typeface="Segoe UI" panose="020B0502040204020203" pitchFamily="34" charset="0"/>
              </a:rPr>
              <a:t>14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865825-45D7-4E78-DB50-DFD6F3FAB3B8}"/>
              </a:ext>
            </a:extLst>
          </p:cNvPr>
          <p:cNvSpPr/>
          <p:nvPr/>
        </p:nvSpPr>
        <p:spPr>
          <a:xfrm>
            <a:off x="762000" y="1473200"/>
            <a:ext cx="431800" cy="431800"/>
          </a:xfrm>
          <a:prstGeom prst="ellipse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3A0550-6044-F60D-66AF-A8CEEEE1621B}"/>
              </a:ext>
            </a:extLst>
          </p:cNvPr>
          <p:cNvSpPr txBox="1"/>
          <p:nvPr/>
        </p:nvSpPr>
        <p:spPr>
          <a:xfrm>
            <a:off x="762000" y="1524000"/>
            <a:ext cx="431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10C71-FB7E-E8C3-3A6E-961FC51DE106}"/>
              </a:ext>
            </a:extLst>
          </p:cNvPr>
          <p:cNvSpPr txBox="1"/>
          <p:nvPr/>
        </p:nvSpPr>
        <p:spPr>
          <a:xfrm>
            <a:off x="1346200" y="1460500"/>
            <a:ext cx="10083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Operations clicks Send for Payment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8D1F93-2505-C32B-F7DE-58FF9FAF6F22}"/>
              </a:ext>
            </a:extLst>
          </p:cNvPr>
          <p:cNvSpPr txBox="1"/>
          <p:nvPr/>
        </p:nvSpPr>
        <p:spPr>
          <a:xfrm>
            <a:off x="1346200" y="1752600"/>
            <a:ext cx="10083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The LR reaches the Accounts queue and an email is sent to the team.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A419A3D-26A8-3228-4189-780D6B934F86}"/>
              </a:ext>
            </a:extLst>
          </p:cNvPr>
          <p:cNvSpPr/>
          <p:nvPr/>
        </p:nvSpPr>
        <p:spPr>
          <a:xfrm>
            <a:off x="762000" y="2387600"/>
            <a:ext cx="431800" cy="431800"/>
          </a:xfrm>
          <a:prstGeom prst="ellipse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2BDFCE-E3ED-3480-E5E6-2A7247EF161D}"/>
              </a:ext>
            </a:extLst>
          </p:cNvPr>
          <p:cNvSpPr txBox="1"/>
          <p:nvPr/>
        </p:nvSpPr>
        <p:spPr>
          <a:xfrm>
            <a:off x="762000" y="2438400"/>
            <a:ext cx="431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5F63A7-932C-FFC1-25DE-42B8A050FABF}"/>
              </a:ext>
            </a:extLst>
          </p:cNvPr>
          <p:cNvSpPr txBox="1"/>
          <p:nvPr/>
        </p:nvSpPr>
        <p:spPr>
          <a:xfrm>
            <a:off x="1346200" y="2374900"/>
            <a:ext cx="10083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Accounts pays the 90% advance now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09A56D-FE92-F040-98FA-0AE193679BDF}"/>
              </a:ext>
            </a:extLst>
          </p:cNvPr>
          <p:cNvSpPr txBox="1"/>
          <p:nvPr/>
        </p:nvSpPr>
        <p:spPr>
          <a:xfrm>
            <a:off x="1346200" y="2667000"/>
            <a:ext cx="10083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Using Mark Advance Paid on the LR payment card.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739E8BC-208B-70AE-A1B4-E058B22F94DF}"/>
              </a:ext>
            </a:extLst>
          </p:cNvPr>
          <p:cNvSpPr/>
          <p:nvPr/>
        </p:nvSpPr>
        <p:spPr>
          <a:xfrm>
            <a:off x="762000" y="3302000"/>
            <a:ext cx="431800" cy="431800"/>
          </a:xfrm>
          <a:prstGeom prst="ellipse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69AF60-C42D-61B3-DF2A-6DF0EE9D7083}"/>
              </a:ext>
            </a:extLst>
          </p:cNvPr>
          <p:cNvSpPr txBox="1"/>
          <p:nvPr/>
        </p:nvSpPr>
        <p:spPr>
          <a:xfrm>
            <a:off x="762000" y="3352800"/>
            <a:ext cx="4318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5AA0FC-801F-F911-4546-77D8D757F818}"/>
              </a:ext>
            </a:extLst>
          </p:cNvPr>
          <p:cNvSpPr txBox="1"/>
          <p:nvPr/>
        </p:nvSpPr>
        <p:spPr>
          <a:xfrm>
            <a:off x="1346200" y="3289300"/>
            <a:ext cx="10083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1212D"/>
                </a:solidFill>
                <a:latin typeface="Segoe UI" panose="020B0502040204020203" pitchFamily="34" charset="0"/>
              </a:rPr>
              <a:t>After POD, Complete Payment settles the rest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F0744E-5B72-A054-2D7C-B9CF2CFA2D4D}"/>
              </a:ext>
            </a:extLst>
          </p:cNvPr>
          <p:cNvSpPr txBox="1"/>
          <p:nvPr/>
        </p:nvSpPr>
        <p:spPr>
          <a:xfrm>
            <a:off x="1346200" y="3581400"/>
            <a:ext cx="10083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050">
                <a:solidFill>
                  <a:srgbClr val="606074"/>
                </a:solidFill>
                <a:latin typeface="Segoe UI" panose="020B0502040204020203" pitchFamily="34" charset="0"/>
              </a:rPr>
              <a:t>The 10% balance is paid - together with any driver incentive.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390D686-EF88-2F68-0DC8-0E6BA9448315}"/>
              </a:ext>
            </a:extLst>
          </p:cNvPr>
          <p:cNvSpPr/>
          <p:nvPr/>
        </p:nvSpPr>
        <p:spPr>
          <a:xfrm>
            <a:off x="762000" y="4368800"/>
            <a:ext cx="10668000" cy="1168400"/>
          </a:xfrm>
          <a:prstGeom prst="roundRect">
            <a:avLst>
              <a:gd name="adj" fmla="val 7000"/>
            </a:avLst>
          </a:prstGeom>
          <a:solidFill>
            <a:srgbClr val="F0E7F2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B2BEDF-BB31-ED8A-5D3F-A42931308A34}"/>
              </a:ext>
            </a:extLst>
          </p:cNvPr>
          <p:cNvSpPr txBox="1"/>
          <p:nvPr/>
        </p:nvSpPr>
        <p:spPr>
          <a:xfrm>
            <a:off x="1066800" y="4572000"/>
            <a:ext cx="100584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>
                <a:solidFill>
                  <a:srgbClr val="6B2B6F"/>
                </a:solidFill>
                <a:latin typeface="Segoe UI" panose="020B0502040204020203" pitchFamily="34" charset="0"/>
              </a:rPr>
              <a:t>Awaiting Advance      →      Awaiting Balance      →      Paid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367060-8BE8-F728-CFD9-696E4EDAE004}"/>
              </a:ext>
            </a:extLst>
          </p:cNvPr>
          <p:cNvSpPr txBox="1"/>
          <p:nvPr/>
        </p:nvSpPr>
        <p:spPr>
          <a:xfrm>
            <a:off x="1066800" y="5029200"/>
            <a:ext cx="100584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100">
                <a:solidFill>
                  <a:srgbClr val="606074"/>
                </a:solidFill>
                <a:latin typeface="Segoe UI" panose="020B0502040204020203" pitchFamily="34" charset="0"/>
              </a:rPr>
              <a:t>Every LR moves through these three clear stages, so Accounts always knows what is due.</a:t>
            </a:r>
          </a:p>
        </p:txBody>
      </p:sp>
    </p:spTree>
    <p:extLst>
      <p:ext uri="{BB962C8B-B14F-4D97-AF65-F5344CB8AC3E}">
        <p14:creationId xmlns:p14="http://schemas.microsoft.com/office/powerpoint/2010/main" val="1489696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98E5F7-7595-EFB4-8A43-51EF56735077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B4366-41C2-A908-D054-03E069E3D290}"/>
              </a:ext>
            </a:extLst>
          </p:cNvPr>
          <p:cNvSpPr txBox="1"/>
          <p:nvPr/>
        </p:nvSpPr>
        <p:spPr>
          <a:xfrm>
            <a:off x="558800" y="190500"/>
            <a:ext cx="9144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Reports &amp; MIS Export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B56403-3423-C7B9-7F3B-B9333703F4C0}"/>
              </a:ext>
            </a:extLst>
          </p:cNvPr>
          <p:cNvSpPr txBox="1"/>
          <p:nvPr/>
        </p:nvSpPr>
        <p:spPr>
          <a:xfrm>
            <a:off x="558800" y="609600"/>
            <a:ext cx="914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E8D8EB"/>
                </a:solidFill>
                <a:latin typeface="Segoe UI" panose="020B0502040204020203" pitchFamily="34" charset="0"/>
              </a:rPr>
              <a:t>Numbers your finance team can trust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212B9-588F-86BE-D88F-25EC2620E1B6}"/>
              </a:ext>
            </a:extLst>
          </p:cNvPr>
          <p:cNvSpPr txBox="1"/>
          <p:nvPr/>
        </p:nvSpPr>
        <p:spPr>
          <a:xfrm>
            <a:off x="558800" y="6527800"/>
            <a:ext cx="5842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fr-FR" sz="900">
                <a:solidFill>
                  <a:srgbClr val="606074"/>
                </a:solidFill>
                <a:latin typeface="Segoe UI" panose="020B0502040204020203" pitchFamily="34" charset="0"/>
              </a:rPr>
              <a:t>Vistar LR Management   ·   User Guide</a:t>
            </a:r>
            <a:endParaRPr lang="en-US" sz="900">
              <a:solidFill>
                <a:srgbClr val="60607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D08F1-D20A-C44F-0D82-CB238595D54C}"/>
              </a:ext>
            </a:extLst>
          </p:cNvPr>
          <p:cNvSpPr txBox="1"/>
          <p:nvPr/>
        </p:nvSpPr>
        <p:spPr>
          <a:xfrm>
            <a:off x="10414000" y="65278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en-US" sz="900">
                <a:solidFill>
                  <a:srgbClr val="606074"/>
                </a:solidFill>
                <a:latin typeface="Segoe UI" panose="020B0502040204020203" pitchFamily="34" charset="0"/>
              </a:rPr>
              <a:t>15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C1FCB3-943B-B96B-9CE5-E01C68D253D0}"/>
              </a:ext>
            </a:extLst>
          </p:cNvPr>
          <p:cNvSpPr/>
          <p:nvPr/>
        </p:nvSpPr>
        <p:spPr>
          <a:xfrm>
            <a:off x="762000" y="1625600"/>
            <a:ext cx="1524000" cy="1524000"/>
          </a:xfrm>
          <a:prstGeom prst="roundRect">
            <a:avLst>
              <a:gd name="adj" fmla="val 7000"/>
            </a:avLst>
          </a:prstGeom>
          <a:solidFill>
            <a:srgbClr val="E9F6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B5CF3-3A0D-5EDD-54E9-2D2DED94FF29}"/>
              </a:ext>
            </a:extLst>
          </p:cNvPr>
          <p:cNvSpPr txBox="1"/>
          <p:nvPr/>
        </p:nvSpPr>
        <p:spPr>
          <a:xfrm>
            <a:off x="762000" y="1841500"/>
            <a:ext cx="1524000" cy="94897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6000">
                <a:solidFill>
                  <a:srgbClr val="1A844A"/>
                </a:solidFill>
                <a:latin typeface="Segoe UI" panose="020B0502040204020203" pitchFamily="34" charset="0"/>
              </a:rPr>
              <a:t>📊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BDFAEC-B274-D515-47C1-552906AB5DAC}"/>
              </a:ext>
            </a:extLst>
          </p:cNvPr>
          <p:cNvSpPr txBox="1"/>
          <p:nvPr/>
        </p:nvSpPr>
        <p:spPr>
          <a:xfrm>
            <a:off x="3048000" y="1524000"/>
            <a:ext cx="8382000" cy="146399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300">
                <a:solidFill>
                  <a:srgbClr val="21212D"/>
                </a:solidFill>
                <a:latin typeface="Segoe UI" panose="020B0502040204020203" pitchFamily="34" charset="0"/>
              </a:rPr>
              <a:t>•  Live totals and margins on the Reports screen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300">
                <a:solidFill>
                  <a:srgbClr val="21212D"/>
                </a:solidFill>
                <a:latin typeface="Segoe UI" panose="020B0502040204020203" pitchFamily="34" charset="0"/>
              </a:rPr>
              <a:t>•  One-click MIS export to Excel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300">
                <a:solidFill>
                  <a:srgbClr val="21212D"/>
                </a:solidFill>
                <a:latin typeface="Segoe UI" panose="020B0502040204020203" pitchFamily="34" charset="0"/>
              </a:rPr>
              <a:t>•  Filter by region, by user (creator) and by date range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300">
                <a:solidFill>
                  <a:srgbClr val="21212D"/>
                </a:solidFill>
                <a:latin typeface="Segoe UI" panose="020B0502040204020203" pitchFamily="34" charset="0"/>
              </a:rPr>
              <a:t>•  Money columns respect each user's permissions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300">
                <a:solidFill>
                  <a:srgbClr val="21212D"/>
                </a:solidFill>
                <a:latin typeface="Segoe UI" panose="020B0502040204020203" pitchFamily="34" charset="0"/>
              </a:rPr>
              <a:t>•  Perfect for month-end billing and reconciliation</a:t>
            </a:r>
          </a:p>
        </p:txBody>
      </p:sp>
    </p:spTree>
    <p:extLst>
      <p:ext uri="{BB962C8B-B14F-4D97-AF65-F5344CB8AC3E}">
        <p14:creationId xmlns:p14="http://schemas.microsoft.com/office/powerpoint/2010/main" val="2904155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23A5E2-1BD4-6150-D575-0993724C1210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52158-C4C2-E36B-0F7B-96BD234B1073}"/>
              </a:ext>
            </a:extLst>
          </p:cNvPr>
          <p:cNvSpPr txBox="1"/>
          <p:nvPr/>
        </p:nvSpPr>
        <p:spPr>
          <a:xfrm>
            <a:off x="558800" y="190500"/>
            <a:ext cx="91440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Keeping data accurate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A2D6CC-6940-4C42-EAF8-24A505B9392D}"/>
              </a:ext>
            </a:extLst>
          </p:cNvPr>
          <p:cNvSpPr txBox="1"/>
          <p:nvPr/>
        </p:nvSpPr>
        <p:spPr>
          <a:xfrm>
            <a:off x="558800" y="609600"/>
            <a:ext cx="914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E8D8EB"/>
                </a:solidFill>
                <a:latin typeface="Segoe UI" panose="020B0502040204020203" pitchFamily="34" charset="0"/>
              </a:rPr>
              <a:t>Good masters mean correct LRs and margins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5F421E-A0FE-B5E6-B749-F15584B78972}"/>
              </a:ext>
            </a:extLst>
          </p:cNvPr>
          <p:cNvSpPr txBox="1"/>
          <p:nvPr/>
        </p:nvSpPr>
        <p:spPr>
          <a:xfrm>
            <a:off x="558800" y="6527800"/>
            <a:ext cx="5842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fr-FR" sz="900">
                <a:solidFill>
                  <a:srgbClr val="606074"/>
                </a:solidFill>
                <a:latin typeface="Segoe UI" panose="020B0502040204020203" pitchFamily="34" charset="0"/>
              </a:rPr>
              <a:t>Vistar LR Management   ·   User Guide</a:t>
            </a:r>
            <a:endParaRPr lang="en-US" sz="900">
              <a:solidFill>
                <a:srgbClr val="60607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618533-77C7-8717-7AE3-FFEA34B7ED4C}"/>
              </a:ext>
            </a:extLst>
          </p:cNvPr>
          <p:cNvSpPr txBox="1"/>
          <p:nvPr/>
        </p:nvSpPr>
        <p:spPr>
          <a:xfrm>
            <a:off x="10414000" y="65278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en-US" sz="900">
                <a:solidFill>
                  <a:srgbClr val="606074"/>
                </a:solidFill>
                <a:latin typeface="Segoe UI" panose="020B0502040204020203" pitchFamily="34" charset="0"/>
              </a:rPr>
              <a:t>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9B909-4903-9041-B85B-BC5744CDA2C5}"/>
              </a:ext>
            </a:extLst>
          </p:cNvPr>
          <p:cNvSpPr txBox="1"/>
          <p:nvPr/>
        </p:nvSpPr>
        <p:spPr>
          <a:xfrm>
            <a:off x="762000" y="1473200"/>
            <a:ext cx="10668000" cy="115698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300">
                <a:solidFill>
                  <a:srgbClr val="21212D"/>
                </a:solidFill>
                <a:latin typeface="Segoe UI" panose="020B0502040204020203" pitchFamily="34" charset="0"/>
              </a:rPr>
              <a:t>•  Maintain Parties, Vehicles, Drivers and Transporters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300">
                <a:solidFill>
                  <a:srgbClr val="21212D"/>
                </a:solidFill>
                <a:latin typeface="Segoe UI" panose="020B0502040204020203" pitchFamily="34" charset="0"/>
              </a:rPr>
              <a:t>•  Keep Routes up to date with cities and rates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300">
                <a:solidFill>
                  <a:srgbClr val="21212D"/>
                </a:solidFill>
                <a:latin typeface="Segoe UI" panose="020B0502040204020203" pitchFamily="34" charset="0"/>
              </a:rPr>
              <a:t>•  Part Descriptions speed up goods entry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300">
                <a:solidFill>
                  <a:srgbClr val="21212D"/>
                </a:solidFill>
                <a:latin typeface="Segoe UI" panose="020B0502040204020203" pitchFamily="34" charset="0"/>
              </a:rPr>
              <a:t>•  Accurate masters make every new LR faster and error-free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48AD87-6B4B-4EEE-80B6-620FF5414C66}"/>
              </a:ext>
            </a:extLst>
          </p:cNvPr>
          <p:cNvSpPr/>
          <p:nvPr/>
        </p:nvSpPr>
        <p:spPr>
          <a:xfrm>
            <a:off x="762000" y="4064000"/>
            <a:ext cx="10668000" cy="1524000"/>
          </a:xfrm>
          <a:prstGeom prst="roundRect">
            <a:avLst>
              <a:gd name="adj" fmla="val 7000"/>
            </a:avLst>
          </a:prstGeom>
          <a:solidFill>
            <a:srgbClr val="E9F0FA"/>
          </a:solidFill>
          <a:ln w="12700">
            <a:solidFill>
              <a:srgbClr val="DDD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7CB154-44A1-7350-640E-D256B8B4332E}"/>
              </a:ext>
            </a:extLst>
          </p:cNvPr>
          <p:cNvSpPr txBox="1"/>
          <p:nvPr/>
        </p:nvSpPr>
        <p:spPr>
          <a:xfrm>
            <a:off x="1066800" y="4267200"/>
            <a:ext cx="100584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400" b="1">
                <a:solidFill>
                  <a:srgbClr val="24569E"/>
                </a:solidFill>
                <a:latin typeface="Segoe UI" panose="020B0502040204020203" pitchFamily="34" charset="0"/>
              </a:rPr>
              <a:t>Important tip - how Vistar Margin works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DA1618-5463-AB2F-24AB-6E30411E4720}"/>
              </a:ext>
            </a:extLst>
          </p:cNvPr>
          <p:cNvSpPr txBox="1"/>
          <p:nvPr/>
        </p:nvSpPr>
        <p:spPr>
          <a:xfrm>
            <a:off x="1066800" y="4648200"/>
            <a:ext cx="10058400" cy="3949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200">
                <a:solidFill>
                  <a:srgbClr val="21212D"/>
                </a:solidFill>
                <a:latin typeface="Segoe UI" panose="020B0502040204020203" pitchFamily="34" charset="0"/>
              </a:rPr>
              <a:t>Vistar Margin = the route's Customer Rate  –  Freight. If a route has no Customer Rate set, its LRs show a zero margin. Set the Customer Rate on each route (Masters → Routes) so margins show correctly.</a:t>
            </a:r>
          </a:p>
        </p:txBody>
      </p:sp>
    </p:spTree>
    <p:extLst>
      <p:ext uri="{BB962C8B-B14F-4D97-AF65-F5344CB8AC3E}">
        <p14:creationId xmlns:p14="http://schemas.microsoft.com/office/powerpoint/2010/main" val="847849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2D1F2D-28AB-5D9C-8E7A-C06A925135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763567-310F-8767-B288-DE15D31DF766}"/>
              </a:ext>
            </a:extLst>
          </p:cNvPr>
          <p:cNvSpPr txBox="1"/>
          <p:nvPr/>
        </p:nvSpPr>
        <p:spPr>
          <a:xfrm>
            <a:off x="558800" y="1219200"/>
            <a:ext cx="11074400" cy="64120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Segoe UI" panose="020B0502040204020203" pitchFamily="34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FD93F-2BB4-2720-4423-60E45868052B}"/>
              </a:ext>
            </a:extLst>
          </p:cNvPr>
          <p:cNvSpPr txBox="1"/>
          <p:nvPr/>
        </p:nvSpPr>
        <p:spPr>
          <a:xfrm>
            <a:off x="558800" y="2006600"/>
            <a:ext cx="110744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500">
                <a:solidFill>
                  <a:srgbClr val="E2D2E5"/>
                </a:solidFill>
                <a:latin typeface="Segoe UI" panose="020B0502040204020203" pitchFamily="34" charset="0"/>
              </a:rPr>
              <a:t>We built this to make your daily work faster, clearer and paperless.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F4FB1B-01C5-4785-FC05-2BDD6680D83E}"/>
              </a:ext>
            </a:extLst>
          </p:cNvPr>
          <p:cNvSpPr/>
          <p:nvPr/>
        </p:nvSpPr>
        <p:spPr>
          <a:xfrm>
            <a:off x="1651000" y="2743200"/>
            <a:ext cx="8890000" cy="254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B0F7E-DC9D-5C3C-EA17-468AEED180CA}"/>
              </a:ext>
            </a:extLst>
          </p:cNvPr>
          <p:cNvSpPr txBox="1"/>
          <p:nvPr/>
        </p:nvSpPr>
        <p:spPr>
          <a:xfrm>
            <a:off x="2032000" y="2971800"/>
            <a:ext cx="812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500" b="1">
                <a:solidFill>
                  <a:srgbClr val="6B2B6F"/>
                </a:solidFill>
                <a:latin typeface="Segoe UI" panose="020B0502040204020203" pitchFamily="34" charset="0"/>
              </a:rPr>
              <a:t>A few quick tips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F97E05-9835-7043-CF04-401425B459A0}"/>
              </a:ext>
            </a:extLst>
          </p:cNvPr>
          <p:cNvSpPr/>
          <p:nvPr/>
        </p:nvSpPr>
        <p:spPr>
          <a:xfrm>
            <a:off x="2032000" y="3327400"/>
            <a:ext cx="584200" cy="38100"/>
          </a:xfrm>
          <a:prstGeom prst="rect">
            <a:avLst/>
          </a:prstGeom>
          <a:solidFill>
            <a:srgbClr val="6B2B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10BF47-3408-AB92-2739-29DBF6B47ECC}"/>
              </a:ext>
            </a:extLst>
          </p:cNvPr>
          <p:cNvSpPr txBox="1"/>
          <p:nvPr/>
        </p:nvSpPr>
        <p:spPr>
          <a:xfrm>
            <a:off x="2032000" y="3505200"/>
            <a:ext cx="8128000" cy="112235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50">
                <a:solidFill>
                  <a:srgbClr val="606074"/>
                </a:solidFill>
                <a:latin typeface="Segoe UI" panose="020B0502040204020203" pitchFamily="34" charset="0"/>
              </a:rPr>
              <a:t>•  Save often - you can always add more on edit later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50">
                <a:solidFill>
                  <a:srgbClr val="606074"/>
                </a:solidFill>
                <a:latin typeface="Segoe UI" panose="020B0502040204020203" pitchFamily="34" charset="0"/>
              </a:rPr>
              <a:t>•  Only fill what you know now; the rest can follow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50">
                <a:solidFill>
                  <a:srgbClr val="606074"/>
                </a:solidFill>
                <a:latin typeface="Segoe UI" panose="020B0502040204020203" pitchFamily="34" charset="0"/>
              </a:rPr>
              <a:t>•  Use the filters to find any LR in seconds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250">
                <a:solidFill>
                  <a:srgbClr val="606074"/>
                </a:solidFill>
                <a:latin typeface="Segoe UI" panose="020B0502040204020203" pitchFamily="34" charset="0"/>
              </a:rPr>
              <a:t>•  Can't see a screen? Ask your admin for access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9EAD08-32F4-0105-5C77-674F1786A8FB}"/>
              </a:ext>
            </a:extLst>
          </p:cNvPr>
          <p:cNvSpPr txBox="1"/>
          <p:nvPr/>
        </p:nvSpPr>
        <p:spPr>
          <a:xfrm>
            <a:off x="558800" y="5740400"/>
            <a:ext cx="110744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200">
                <a:solidFill>
                  <a:srgbClr val="E2D2E5"/>
                </a:solidFill>
                <a:latin typeface="Segoe UI" panose="020B0502040204020203" pitchFamily="34" charset="0"/>
              </a:rPr>
              <a:t>Questions? Please contact your Vistar Logitek administrator.</a:t>
            </a:r>
          </a:p>
        </p:txBody>
      </p:sp>
    </p:spTree>
    <p:extLst>
      <p:ext uri="{BB962C8B-B14F-4D97-AF65-F5344CB8AC3E}">
        <p14:creationId xmlns:p14="http://schemas.microsoft.com/office/powerpoint/2010/main" val="1410603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1526</Words>
  <Application>Microsoft Office PowerPoint</Application>
  <PresentationFormat>Custom</PresentationFormat>
  <Paragraphs>259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vistar Logitek</dc:creator>
  <cp:lastModifiedBy>vistar Logitek</cp:lastModifiedBy>
  <cp:revision>1</cp:revision>
  <dcterms:created xsi:type="dcterms:W3CDTF">2026-07-13T07:37:03Z</dcterms:created>
  <dcterms:modified xsi:type="dcterms:W3CDTF">2026-07-13T07:37:04Z</dcterms:modified>
</cp:coreProperties>
</file>